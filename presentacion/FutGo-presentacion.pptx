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Presentarnos y decir en una frase de qué va: tomamos FutGo y le aplicamos tres patrones de diseño para que funcione bien con varias réplicas.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 la entrega anterior el foco era la infraestructura: Nginx repartiendo pedidos entre 3 réplicas con un Redis compartido. Ahora cambiamos cómo se carga un partido para que los conceptos tengan un uso real. Recorrer cada funcionalidad y nombrar el concepto que la sostiene.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ver cada uno en detalle, ubicarlos: Event Sourcing y CQRS son patrones de arquitectura, porque deciden cómo se organizan y fluyen los datos de la aplicación. La idempotencia no es un patrón: es una propiedad de una operación, y la logramos con dos mecanismos.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Event Sourcing: en vez de guardar cómo quedó el partido, guardamos todo lo que pasó. El marcador se calcula recorriendo los eventos. Si hay un error, no se borra: se agrega otro evento que lo corrige.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CQRS: separamos escribir de leer. Escribir es agregar eventos y validar reglas. Leer es mirar datos ya calculados. En el medio hay un proyector que traduce. El costo: la tabla se entera unos milisegundos después.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Idempotencia: hacer algo una vez o diez da el mismo resultado. Con varias réplicas los pedidos se repiten. Cada acción lleva un ID; si llega dos veces, la segunda no hace nada. El ID vive en Redis porque el reintento puede caer en otra réplica.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segundo mecanismo de idempotencia: cada partido tiene un número de versión. Quien carga un evento dice sobre qué versión lo decidió. Si mientras tanto otro cargó algo, la versión ya cambió y el pedido se rechaza: nada se pisa y nadie queda bloqueado esperando. La key frena el mismo intento repetido; la versión frena otra acción hecha sobre un estado viejo.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Pasamos a la demo en vivo. Seguir el guion de docs/demo.md.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honestidad: para una app chica alcanzaba un CRUD. Lo hicimos para aplicar y entender los patrones sobre una arquitectura real de varias réplicas.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2C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F0C052"/>
                </a:solidFill>
                <a:latin typeface="Manrope"/>
              </a:rPr>
              <a:t>DEVOPS · ENTREGA FINAL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9600" b="0">
                <a:solidFill>
                  <a:srgbClr val="F6EFD9"/>
                </a:solidFill>
                <a:latin typeface="Anton"/>
              </a:rPr>
              <a:t>FutGo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0">
                <a:solidFill>
                  <a:srgbClr val="F6EFD9"/>
                </a:solidFill>
                <a:latin typeface="Manrope"/>
              </a:rPr>
              <a:t>Partidos en vivo con Event Sourcing, CQRS e idempotencia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F6EFD9"/>
                </a:solidFill>
                <a:latin typeface="Manrope"/>
              </a:rPr>
              <a:t>Nginx  ·  3 réplicas  ·  Redis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0C052"/>
                </a:solidFill>
                <a:latin typeface="Manrope"/>
              </a:rPr>
              <a:t>ESTA ENTREGA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0">
                <a:solidFill>
                  <a:srgbClr val="F6EFD9"/>
                </a:solidFill>
                <a:latin typeface="Anton"/>
              </a:rPr>
              <a:t>Nuevas funcionalidades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10744200" cy="731520"/>
          </a:xfrm>
          <a:prstGeom prst="roundRect">
            <a:avLst>
              <a:gd name="adj" fmla="val 15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12140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0C052"/>
                </a:solidFill>
                <a:latin typeface="Manrope"/>
              </a:rPr>
              <a:t>Partido en vivo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214884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Gol a gol, con tarjetas y goles anulados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0" y="21488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400" b="1">
                <a:solidFill>
                  <a:srgbClr val="B9B4A0"/>
                </a:solidFill>
                <a:latin typeface="Manrope"/>
              </a:rPr>
              <a:t>Event Sourcing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4639"/>
            <a:ext cx="10744200" cy="731520"/>
          </a:xfrm>
          <a:prstGeom prst="roundRect">
            <a:avLst>
              <a:gd name="adj" fmla="val 15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90087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0C052"/>
                </a:solidFill>
                <a:latin typeface="Manrope"/>
              </a:rPr>
              <a:t>Reloj del partido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301752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Se adelanta o corre solo; nunca va para atrás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01752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400" b="1">
                <a:solidFill>
                  <a:srgbClr val="B9B4A0"/>
                </a:solidFill>
                <a:latin typeface="Manrope"/>
              </a:rPr>
              <a:t>Event Sourcing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03320"/>
            <a:ext cx="10744200" cy="731520"/>
          </a:xfrm>
          <a:prstGeom prst="roundRect">
            <a:avLst>
              <a:gd name="adj" fmla="val 15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85876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0C052"/>
                </a:solidFill>
                <a:latin typeface="Manrope"/>
              </a:rPr>
              <a:t>Tabla de posiciones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388620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Se arma sola y se puede reconstruir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0" y="38862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400" b="1">
                <a:solidFill>
                  <a:srgbClr val="B9B4A0"/>
                </a:solidFill>
                <a:latin typeface="Manrope"/>
              </a:rPr>
              <a:t>CQRS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10744200" cy="731520"/>
          </a:xfrm>
          <a:prstGeom prst="roundRect">
            <a:avLst>
              <a:gd name="adj" fmla="val 15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727448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0C052"/>
                </a:solidFill>
                <a:latin typeface="Manrope"/>
              </a:rPr>
              <a:t>Sin duplicados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475488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Un doble click o un reintento cuenta una sola vez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475488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400" b="1">
                <a:solidFill>
                  <a:srgbClr val="B9B4A0"/>
                </a:solidFill>
                <a:latin typeface="Manrope"/>
              </a:rPr>
              <a:t>Idempotencia · key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440679"/>
            <a:ext cx="10744200" cy="731520"/>
          </a:xfrm>
          <a:prstGeom prst="roundRect">
            <a:avLst>
              <a:gd name="adj" fmla="val 15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596127"/>
            <a:ext cx="2743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1">
                <a:solidFill>
                  <a:srgbClr val="F0C052"/>
                </a:solidFill>
                <a:latin typeface="Manrope"/>
              </a:rPr>
              <a:t>Sin pisarse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5623559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Si dos cargan a la vez, el segundo recibe un aviso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623559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400" b="1">
                <a:solidFill>
                  <a:srgbClr val="B9B4A0"/>
                </a:solidFill>
                <a:latin typeface="Manrope"/>
              </a:rPr>
              <a:t>Idempotencia · versión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0C052"/>
                </a:solidFill>
                <a:latin typeface="Manrope"/>
              </a:rPr>
              <a:t>TEORÍA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0">
                <a:solidFill>
                  <a:srgbClr val="F6EFD9"/>
                </a:solidFill>
                <a:latin typeface="Anton"/>
              </a:rPr>
              <a:t>Los conceptos, en resumen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011680"/>
            <a:ext cx="3429000" cy="4297680"/>
          </a:xfrm>
          <a:prstGeom prst="roundRect">
            <a:avLst>
              <a:gd name="adj" fmla="val 6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4028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9B4A0"/>
                </a:solidFill>
                <a:latin typeface="Manrope"/>
              </a:rPr>
              <a:t>PATRÓN DE ARQUITECTURA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560320"/>
            <a:ext cx="3017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0C052"/>
                </a:solidFill>
                <a:latin typeface="Manrope"/>
              </a:rPr>
              <a:t>Event Sourcing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3291840"/>
            <a:ext cx="301752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Se guarda la secuencia de eventos que ocurrieron, no el estado actual.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El estado se calcula recorriendo los eventos.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29000" cy="4297680"/>
          </a:xfrm>
          <a:prstGeom prst="roundRect">
            <a:avLst>
              <a:gd name="adj" fmla="val 6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24028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9B4A0"/>
                </a:solidFill>
                <a:latin typeface="Manrope"/>
              </a:rPr>
              <a:t>PATRÓN DE ARQUITECTURA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560320"/>
            <a:ext cx="3017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0C052"/>
                </a:solidFill>
                <a:latin typeface="Manrope"/>
              </a:rPr>
              <a:t>CQRS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3291840"/>
            <a:ext cx="301752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Un modelo para escribir (comandos) y otro para leer (consultas).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Un proyector mantiene actualizado el de lectura.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429000" cy="4297680"/>
          </a:xfrm>
          <a:prstGeom prst="roundRect">
            <a:avLst>
              <a:gd name="adj" fmla="val 6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2240280"/>
            <a:ext cx="301752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B9B4A0"/>
                </a:solidFill>
                <a:latin typeface="Manrope"/>
              </a:rPr>
              <a:t>PROPIEDAD DE UNA OPERACIÓN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560320"/>
            <a:ext cx="30175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0C052"/>
                </a:solidFill>
                <a:latin typeface="Manrope"/>
              </a:rPr>
              <a:t>Idempotencia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291840"/>
            <a:ext cx="3017520" cy="2926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Hacerla una o varias veces da el mismo resultado. Dos mecanismos: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• Idempotency key: el mismo intento se aplica una sola vez.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6EFD9"/>
                </a:solidFill>
                <a:latin typeface="Manrope"/>
              </a:rPr>
              <a:t>• Versión esperada: una acción sobre un estado viejo se rechaza.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0C052"/>
                </a:solidFill>
                <a:latin typeface="Manrope"/>
              </a:rPr>
              <a:t>CONCEPTO 1 · EVENT SOURCING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0">
                <a:solidFill>
                  <a:srgbClr val="F6EFD9"/>
                </a:solidFill>
                <a:latin typeface="Anton"/>
              </a:rPr>
              <a:t>Guardar lo que pasó, no cómo quedó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400" b="1">
                <a:solidFill>
                  <a:srgbClr val="F0C052"/>
                </a:solidFill>
                <a:latin typeface="Manrope"/>
              </a:rPr>
              <a:t>0'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F6EFD9"/>
                </a:solidFill>
                <a:latin typeface="Manrope"/>
              </a:rPr>
              <a:t>Inicio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71800" y="228600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400" b="1">
                <a:solidFill>
                  <a:srgbClr val="F0C052"/>
                </a:solidFill>
                <a:latin typeface="Manrope"/>
              </a:rPr>
              <a:t>19'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F6EFD9"/>
                </a:solidFill>
                <a:latin typeface="Manrope"/>
              </a:rPr>
              <a:t>Gol de Pérez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12080" y="228600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400" b="1">
                <a:solidFill>
                  <a:srgbClr val="F0C052"/>
                </a:solidFill>
                <a:latin typeface="Manrope"/>
              </a:rPr>
              <a:t>23'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F6EFD9"/>
                </a:solidFill>
                <a:latin typeface="Manrope"/>
              </a:rPr>
              <a:t>Amarilla a Ruiz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2360" y="228600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D94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400" b="1">
                <a:solidFill>
                  <a:srgbClr val="F6EFD9"/>
                </a:solidFill>
                <a:latin typeface="Manrope"/>
              </a:rPr>
              <a:t>30'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F6EFD9"/>
                </a:solidFill>
                <a:latin typeface="Manrope"/>
              </a:rPr>
              <a:t>Gol anulado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92640" y="2286000"/>
            <a:ext cx="2011680" cy="137160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400" b="1">
                <a:solidFill>
                  <a:srgbClr val="F0C052"/>
                </a:solidFill>
                <a:latin typeface="Manrope"/>
              </a:rPr>
              <a:t>90'</a:t>
            </a:r>
          </a:p>
          <a:p>
            <a:pPr algn="ctr">
              <a:spcBef>
                <a:spcPts val="600"/>
              </a:spcBef>
            </a:pPr>
            <a:r>
              <a:rPr sz="1500">
                <a:solidFill>
                  <a:srgbClr val="F6EFD9"/>
                </a:solidFill>
                <a:latin typeface="Manrope"/>
              </a:rPr>
              <a:t>Final 1 - 0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1078992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F6EFD9"/>
                </a:solidFill>
                <a:latin typeface="Manrope"/>
              </a:rPr>
              <a:t>El marcador no se guarda: se calcula a partir de los eventos.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6EFD9"/>
                </a:solidFill>
                <a:latin typeface="Manrope"/>
              </a:rPr>
              <a:t>Nada se borra: un error se corrige con otro evento.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6EFD9"/>
                </a:solidFill>
                <a:latin typeface="Manrope"/>
              </a:rPr>
              <a:t>Como la historia está completa, cualquier vista se puede reconstruir.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0C052"/>
                </a:solidFill>
                <a:latin typeface="Manrope"/>
              </a:rPr>
              <a:t>CONCEPTO 2 · CQRS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0">
                <a:solidFill>
                  <a:srgbClr val="F6EFD9"/>
                </a:solidFill>
                <a:latin typeface="Anton"/>
              </a:rPr>
              <a:t>Escribir y leer por separado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28600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1">
                <a:solidFill>
                  <a:srgbClr val="F0C052"/>
                </a:solidFill>
                <a:latin typeface="Manrope"/>
              </a:rPr>
              <a:t>Registrar gol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6EFD9"/>
                </a:solidFill>
                <a:latin typeface="Manrope"/>
              </a:rPr>
              <a:t>escribir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2697480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F0C052"/>
                </a:solidFill>
                <a:latin typeface="Manrope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228600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1">
                <a:solidFill>
                  <a:srgbClr val="F0C052"/>
                </a:solidFill>
                <a:latin typeface="Manrope"/>
              </a:rPr>
              <a:t>Eventos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6EFD9"/>
                </a:solidFill>
                <a:latin typeface="Manrope"/>
              </a:rPr>
              <a:t>fuente de verdad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2697480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F0C052"/>
                </a:solidFill>
                <a:latin typeface="Manrope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0" y="228600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2C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1">
                <a:solidFill>
                  <a:srgbClr val="F0C052"/>
                </a:solidFill>
                <a:latin typeface="Manrope"/>
              </a:rPr>
              <a:t>Proyector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6EFD9"/>
                </a:solidFill>
                <a:latin typeface="Manrope"/>
              </a:rPr>
              <a:t>traduce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697480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F0C052"/>
                </a:solidFill>
                <a:latin typeface="Manrope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28600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1">
                <a:solidFill>
                  <a:srgbClr val="F0C052"/>
                </a:solidFill>
                <a:latin typeface="Manrope"/>
              </a:rPr>
              <a:t>Tabla y marcador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6EFD9"/>
                </a:solidFill>
                <a:latin typeface="Manrope"/>
              </a:rPr>
              <a:t>datos listos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2697480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B9B4A0"/>
                </a:solidFill>
                <a:latin typeface="Manrope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875520" y="2286000"/>
            <a:ext cx="1828800" cy="137160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700" b="1">
                <a:solidFill>
                  <a:srgbClr val="F0C052"/>
                </a:solidFill>
                <a:latin typeface="Manrope"/>
              </a:rPr>
              <a:t>Ver la tabla</a:t>
            </a:r>
          </a:p>
          <a:p>
            <a:pPr algn="ctr">
              <a:spcBef>
                <a:spcPts val="600"/>
              </a:spcBef>
            </a:pPr>
            <a:r>
              <a:rPr sz="1300">
                <a:solidFill>
                  <a:srgbClr val="F6EFD9"/>
                </a:solidFill>
                <a:latin typeface="Manrope"/>
              </a:rPr>
              <a:t>leer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06240"/>
            <a:ext cx="10789920" cy="20116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F6EFD9"/>
                </a:solidFill>
                <a:latin typeface="Manrope"/>
              </a:rPr>
              <a:t>Escribir valida las reglas. Leer es rápido porque ya está calculado.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6EFD9"/>
                </a:solidFill>
                <a:latin typeface="Manrope"/>
              </a:rPr>
              <a:t>El proyector corre en las 3 réplicas y se reparten el trabajo.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6EFD9"/>
                </a:solidFill>
                <a:latin typeface="Manrope"/>
              </a:rPr>
              <a:t>Costo: la tabla se actualiza milisegundos después (consistencia eventual).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0C052"/>
                </a:solidFill>
                <a:latin typeface="Manrope"/>
              </a:rPr>
              <a:t>CONCEPTO 3 · IDEMPOTENCIA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0">
                <a:solidFill>
                  <a:srgbClr val="F6EFD9"/>
                </a:solidFill>
                <a:latin typeface="Anton"/>
              </a:rPr>
              <a:t>Misma acción, un solo efecto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3291840" cy="182880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000" b="1">
                <a:solidFill>
                  <a:srgbClr val="F0C052"/>
                </a:solidFill>
                <a:latin typeface="Manrope"/>
              </a:rPr>
              <a:t>Doble click</a:t>
            </a:r>
          </a:p>
          <a:p>
            <a:pPr algn="ctr">
              <a:spcBef>
                <a:spcPts val="600"/>
              </a:spcBef>
            </a:pPr>
            <a:r>
              <a:rPr sz="1600">
                <a:solidFill>
                  <a:srgbClr val="F6EFD9"/>
                </a:solidFill>
                <a:latin typeface="Manrope"/>
              </a:rPr>
              <a:t>Reintento por red lenta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2788920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F0C052"/>
                </a:solidFill>
                <a:latin typeface="Manrope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2194560"/>
            <a:ext cx="2743200" cy="1828800"/>
          </a:xfrm>
          <a:prstGeom prst="roundRect">
            <a:avLst>
              <a:gd name="adj" fmla="val 8000"/>
            </a:avLst>
          </a:prstGeom>
          <a:solidFill>
            <a:srgbClr val="2C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000" b="1">
                <a:solidFill>
                  <a:srgbClr val="F0C052"/>
                </a:solidFill>
                <a:latin typeface="Manrope"/>
              </a:rPr>
              <a:t>Mismo ID</a:t>
            </a:r>
          </a:p>
          <a:p>
            <a:pPr algn="ctr">
              <a:spcBef>
                <a:spcPts val="600"/>
              </a:spcBef>
            </a:pPr>
            <a:r>
              <a:rPr sz="1600">
                <a:solidFill>
                  <a:srgbClr val="F6EFD9"/>
                </a:solidFill>
                <a:latin typeface="Manrope"/>
              </a:rPr>
              <a:t>Idempotency-Key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26679" y="2788920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F0C052"/>
                </a:solidFill>
                <a:latin typeface="Manrope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0" y="2194560"/>
            <a:ext cx="3017520" cy="182880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000" b="1">
                <a:solidFill>
                  <a:srgbClr val="F0C052"/>
                </a:solidFill>
                <a:latin typeface="Manrope"/>
              </a:rPr>
              <a:t>1 solo gol</a:t>
            </a:r>
          </a:p>
          <a:p>
            <a:pPr algn="ctr">
              <a:spcBef>
                <a:spcPts val="600"/>
              </a:spcBef>
            </a:pPr>
            <a:r>
              <a:rPr sz="1600">
                <a:solidFill>
                  <a:srgbClr val="F6EFD9"/>
                </a:solidFill>
                <a:latin typeface="Manrope"/>
              </a:rPr>
              <a:t>la copia se ignora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0560"/>
            <a:ext cx="1078992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F6EFD9"/>
                </a:solidFill>
                <a:latin typeface="Manrope"/>
              </a:rPr>
              <a:t>Cada acción del usuario lleva un ID. Si llega dos veces, se responde lo mismo sin repetirla.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F6EFD9"/>
                </a:solidFill>
                <a:latin typeface="Manrope"/>
              </a:rPr>
              <a:t>El ID se guarda en Redis, compartido por las 3 réplicas: el reintento puede caer en otra.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0C052"/>
                </a:solidFill>
                <a:latin typeface="Manrope"/>
              </a:rPr>
              <a:t>CONCEPTO 3 · IDEMPOTENCIA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0">
                <a:solidFill>
                  <a:srgbClr val="F6EFD9"/>
                </a:solidFill>
                <a:latin typeface="Anton"/>
              </a:rPr>
              <a:t>La versión del partido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3291840" cy="155448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000" b="1">
                <a:solidFill>
                  <a:srgbClr val="F0C052"/>
                </a:solidFill>
                <a:latin typeface="Manrope"/>
              </a:rPr>
              <a:t>Usuario A</a:t>
            </a:r>
          </a:p>
          <a:p>
            <a:pPr algn="ctr">
              <a:spcBef>
                <a:spcPts val="600"/>
              </a:spcBef>
            </a:pPr>
            <a:r>
              <a:rPr sz="1600">
                <a:solidFill>
                  <a:srgbClr val="F6EFD9"/>
                </a:solidFill>
                <a:latin typeface="Manrope"/>
              </a:rPr>
              <a:t>Ve la v5 y carga un gol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60520" y="2606040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F0C052"/>
                </a:solidFill>
                <a:latin typeface="Manrope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2103120"/>
            <a:ext cx="2743200" cy="1554480"/>
          </a:xfrm>
          <a:prstGeom prst="roundRect">
            <a:avLst>
              <a:gd name="adj" fmla="val 8000"/>
            </a:avLst>
          </a:prstGeom>
          <a:solidFill>
            <a:srgbClr val="2C6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000" b="1">
                <a:solidFill>
                  <a:srgbClr val="F0C052"/>
                </a:solidFill>
                <a:latin typeface="Manrope"/>
              </a:rPr>
              <a:t>Se guarda</a:t>
            </a:r>
          </a:p>
          <a:p>
            <a:pPr algn="ctr">
              <a:spcBef>
                <a:spcPts val="600"/>
              </a:spcBef>
            </a:pPr>
            <a:r>
              <a:rPr sz="1600">
                <a:solidFill>
                  <a:srgbClr val="F6EFD9"/>
                </a:solidFill>
                <a:latin typeface="Manrope"/>
              </a:rPr>
              <a:t>el partido pasa a la v6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31920"/>
            <a:ext cx="3291840" cy="155448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000" b="1">
                <a:solidFill>
                  <a:srgbClr val="F0C052"/>
                </a:solidFill>
                <a:latin typeface="Manrope"/>
              </a:rPr>
              <a:t>Usuario B</a:t>
            </a:r>
          </a:p>
          <a:p>
            <a:pPr algn="ctr">
              <a:spcBef>
                <a:spcPts val="600"/>
              </a:spcBef>
            </a:pPr>
            <a:r>
              <a:rPr sz="1600">
                <a:solidFill>
                  <a:srgbClr val="F6EFD9"/>
                </a:solidFill>
                <a:latin typeface="Manrope"/>
              </a:rPr>
              <a:t>También veía la v5 y carga otro gol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4434840"/>
            <a:ext cx="5486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3000" b="1">
                <a:solidFill>
                  <a:srgbClr val="D9483B"/>
                </a:solidFill>
                <a:latin typeface="Manrope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3931920"/>
            <a:ext cx="2743200" cy="1554480"/>
          </a:xfrm>
          <a:prstGeom prst="roundRect">
            <a:avLst>
              <a:gd name="adj" fmla="val 8000"/>
            </a:avLst>
          </a:prstGeom>
          <a:solidFill>
            <a:srgbClr val="D948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2000" b="1">
                <a:solidFill>
                  <a:srgbClr val="F6EFD9"/>
                </a:solidFill>
                <a:latin typeface="Manrope"/>
              </a:rPr>
              <a:t>Se rechaza</a:t>
            </a:r>
          </a:p>
          <a:p>
            <a:pPr algn="ctr">
              <a:spcBef>
                <a:spcPts val="600"/>
              </a:spcBef>
            </a:pPr>
            <a:r>
              <a:rPr sz="1600">
                <a:solidFill>
                  <a:srgbClr val="F6EFD9"/>
                </a:solidFill>
                <a:latin typeface="Manrope"/>
              </a:rPr>
              <a:t>ya va por la v6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2103120"/>
            <a:ext cx="3383280" cy="3383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>
                <a:solidFill>
                  <a:srgbClr val="F6EFD9"/>
                </a:solidFill>
                <a:latin typeface="Manrope"/>
              </a:rPr>
              <a:t>B recibe un aviso, ve el partido actualizado y decide de nuevo.</a:t>
            </a:r>
          </a:p>
          <a:p>
            <a:pPr algn="l">
              <a:spcAft>
                <a:spcPts val="800"/>
              </a:spcAft>
            </a:pPr>
            <a:r>
              <a:rPr sz="1900" b="0">
                <a:solidFill>
                  <a:srgbClr val="F6EFD9"/>
                </a:solidFill>
                <a:latin typeface="Manrope"/>
              </a:rPr>
              <a:t>Nadie se pisa y nadie espera bloqueado.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7899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B9B4A0"/>
                </a:solidFill>
                <a:latin typeface="Manrope"/>
              </a:rPr>
              <a:t>Key: el mismo intento repetido.   Versión: otra acción sobre un estado viejo.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0C052"/>
                </a:solidFill>
                <a:latin typeface="Manrope"/>
              </a:rPr>
              <a:t>EN VIVO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0">
                <a:solidFill>
                  <a:srgbClr val="F6EFD9"/>
                </a:solidFill>
                <a:latin typeface="Anton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51560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800" b="0">
                <a:solidFill>
                  <a:srgbClr val="F6EFD9"/>
                </a:solidFill>
                <a:latin typeface="Manrope"/>
              </a:rPr>
              <a:t>1   Un partido en vivo, gol a gol</a:t>
            </a:r>
          </a:p>
          <a:p>
            <a:pPr algn="l">
              <a:spcAft>
                <a:spcPts val="800"/>
              </a:spcAft>
            </a:pPr>
            <a:r>
              <a:rPr sz="2800" b="0">
                <a:solidFill>
                  <a:srgbClr val="F6EFD9"/>
                </a:solidFill>
                <a:latin typeface="Manrope"/>
              </a:rPr>
              <a:t>2   La tabla se borra y se reconstruye</a:t>
            </a:r>
          </a:p>
          <a:p>
            <a:pPr algn="l">
              <a:spcAft>
                <a:spcPts val="800"/>
              </a:spcAft>
            </a:pPr>
            <a:r>
              <a:rPr sz="2800" b="0">
                <a:solidFill>
                  <a:srgbClr val="F6EFD9"/>
                </a:solidFill>
                <a:latin typeface="Manrope"/>
              </a:rPr>
              <a:t>3   Un reintento que no duplica</a:t>
            </a:r>
          </a:p>
          <a:p>
            <a:pPr algn="l">
              <a:spcAft>
                <a:spcPts val="800"/>
              </a:spcAft>
            </a:pPr>
            <a:r>
              <a:rPr sz="2800" b="0">
                <a:solidFill>
                  <a:srgbClr val="F6EFD9"/>
                </a:solidFill>
                <a:latin typeface="Manrope"/>
              </a:rPr>
              <a:t>4   Dos usuarios a la vez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>
                <a:solidFill>
                  <a:srgbClr val="F0C052"/>
                </a:solidFill>
                <a:latin typeface="Manrope"/>
              </a:rPr>
              <a:t>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7899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0">
                <a:solidFill>
                  <a:srgbClr val="F6EFD9"/>
                </a:solidFill>
                <a:latin typeface="Anton"/>
              </a:rPr>
              <a:t>Qué ganamos y qué cuesta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5120640" cy="292608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2000" b="1">
                <a:solidFill>
                  <a:srgbClr val="F0C052"/>
                </a:solidFill>
                <a:latin typeface="Manrope"/>
              </a:rPr>
              <a:t>Ganamos</a:t>
            </a:r>
          </a:p>
          <a:p>
            <a:pPr algn="l">
              <a:spcBef>
                <a:spcPts val="600"/>
              </a:spcBef>
            </a:pPr>
            <a:r>
              <a:rPr sz="1600">
                <a:solidFill>
                  <a:srgbClr val="F6EFD9"/>
                </a:solidFill>
                <a:latin typeface="Manrope"/>
              </a:rPr>
              <a:t>Historia completa de cada partido.
Vistas que se reconstruyen.
Reintentos seguros con varias réplicas.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103120"/>
            <a:ext cx="5120640" cy="2926080"/>
          </a:xfrm>
          <a:prstGeom prst="roundRect">
            <a:avLst>
              <a:gd name="adj" fmla="val 8000"/>
            </a:avLst>
          </a:prstGeom>
          <a:solidFill>
            <a:srgbClr val="1F2B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l"/>
            <a:r>
              <a:rPr sz="2000" b="1">
                <a:solidFill>
                  <a:srgbClr val="D9483B"/>
                </a:solidFill>
                <a:latin typeface="Manrope"/>
              </a:rPr>
              <a:t>Cuesta</a:t>
            </a:r>
          </a:p>
          <a:p>
            <a:pPr algn="l">
              <a:spcBef>
                <a:spcPts val="600"/>
              </a:spcBef>
            </a:pPr>
            <a:r>
              <a:rPr sz="1600">
                <a:solidFill>
                  <a:srgbClr val="F6EFD9"/>
                </a:solidFill>
                <a:latin typeface="Manrope"/>
              </a:rPr>
              <a:t>Más piezas (proyector, colas).
La lectura llega milisegundos tarde.
Redis sigue siendo un único punto de falla.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7899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B9B4A0"/>
                </a:solidFill>
                <a:latin typeface="Manrope"/>
              </a:rPr>
              <a:t>Para una app de este tamaño un CRUD alcanzaba: lo hicimos para aprender y mostrar los patrones.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