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5" r:id="rId17"/>
    <p:sldId id="257" r:id="rId9"/>
    <p:sldId id="266" r:id="rId18"/>
    <p:sldId id="269" r:id="rId21"/>
    <p:sldId id="268" r:id="rId20"/>
    <p:sldId id="259" r:id="rId11"/>
    <p:sldId id="267" r:id="rId19"/>
    <p:sldId id="270" r:id="rId22"/>
    <p:sldId id="271" r:id="rId23"/>
    <p:sldId id="272" r:id="rId24"/>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12.xml"/><Relationship Id="rId11" Type="http://schemas.openxmlformats.org/officeDocument/2006/relationships/slide" Target="slides/slide11.xml"/><Relationship Id="rId14" Type="http://schemas.openxmlformats.org/officeDocument/2006/relationships/slide" Target="slides/slide9.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5.xml"/><Relationship Id="rId20" Type="http://schemas.openxmlformats.org/officeDocument/2006/relationships/slide" Target="slides/slide10.xml"/><Relationship Id="rId21" Type="http://schemas.openxmlformats.org/officeDocument/2006/relationships/slide" Target="slides/slide4.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Presentarnos y decir en una frase de qué va: tomamos FutGo y le aplicamos tres patrones de diseño para que funcione bien con varias réplicas.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entrega anterior el foco era la infraestructura: Nginx repartiendo pedidos entre 3 réplicas con un Redis compartido. Ahora cambiamos cómo se carga un partido para que los conceptos tengan un uso real. Recorrer cada funcionalidad y nombrar el concepto que la sostiene.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 Sourcing: en vez de guardar cómo quedó el partido, guardamos todo lo que pasó. El marcador se calcula recorriendo los eventos. Si hay un error, no se borra: se agrega otro evento que lo corrige.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segundo mecanismo de idempotencia: cada partido tiene un número de versión. Quien carga un evento dice sobre qué versión lo decidió. Si mientras tanto otro cargó algo, la versión ya cambió y el pedido se rechaza: nada se pisa y nadie queda bloqueado esperando. La key frena el mismo intento repetido; la versión frena otra acción hecha sobre un estado viejo.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Pasamos a la demo en vivo. Seguir el guion de docs/demo.md.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con honestidad: para una app chica alcanzaba un CRUD. Lo hicimos para aplicar y entender los patrones sobre una arquitectura real de varias réplicas.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Ubicar los tres términos y cómo se relacionan. CQRS e idempotencia son los temas principales de la entrega. Event Sourcing lo incluimos porque encaja muy bien con los otros dos y con esta app: un partido ya es una secuencia de hechos, el número de versión sale gratis de contar eventos, y el proyector de CQRS necesita tener de dónde leer. El flujo del diagrama: escribir guarda eventos, el proyector los traduce, leer consulta las tablas. La idempotencia protege todo ese recorrido de pedidos repetidos.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CQRS. Ventajas: cada lado se optimiza por separado y las lecturas son rápidas porque los datos ya están calculados. Desventajas: la lectura llega con un pequeño retraso, el costo es consistencia eventual, y hay más piezas. No conviene en un CRUD simple. En FutGo lo usamos para partidos y tabla, pero no para equipos y jugadores, que siguen siendo un CRUD.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Idempotencia. Dos mecanismos: la key frena el mismo intento repetido y la versión frena otra acción basada en un estado viejo. Estrictamente, la idempotencia propiamente dicha la da la key; la versión es control de concurrencia optimista. Ventajas: reintentar es seguro. Desventajas: hay que guardar las keys y que el cliente las reutilice. No hace falta en operaciones que ya son idempotentes, como las consultas.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 Sourcing. Lo incluimos nosotros: no era el tema principal pero encaja muy bien. Ventajas: historia completa, corregir sin borrar y reconstruir vistas con un replay. Desventajas: es más difícil consultar el estado actual y cambiar un evento viejo es delicado. No conviene cuando la historia no importa. En FutGo lo usamos solo para partidos.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CQRS no es todo o nada: hay grados según cuánto separás los dos lados. Nivel 1: mismo almacén con dos modelos, es FutGo con Redis. Nivel 2: el mismo motor en servidores separados, por ejemplo PostgreSQL con réplicas de lectura. Nivel 3: motores distintos, cada uno para lo suyo. A la derecha, ejemplos de otros mundos: un buscador de e-commerce (CQRS sin Event Sourcing), una red social (el timeline precalculado) y un data warehouse (el mismo principio a escala de empresa).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varias formas de lograr que repetir no cause daño, y se combinan. En FutGo usamos tres: la idempotency key, la versión esperada y el consumidor que descarta repetidos (la tabla solo suma cada partido una vez). Las otras dos son comunes en otros sistemas: diseñar la operación para que sea idempotente por naturaleza y la restricción de unicidad en la base de datos. Aclaración: estrictamente, la versión es control de concurrencia optimista; protege del mismo daño que la key pero devuelve un error en vez de la respuesta guardada.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idempotencia es el objetivo: que repetir no haga daño. La deduplicación es una técnica para lograrlo: recordar lo ya procesado y descartar lo repetido. Hay un segundo camino que no necesita memoria: diseñar la operación, o condicionarla al estado, para que repetirla no cambie nada. Con entrega al menos una vez más deduplicación se logra que el efecto ocurra una sola vez, que es la idea detrás de exactly-once.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concurrencia optimista es cómo evitamos que dos escrituras se pisen sin bloquear a nadie. Pesimista: se bloquea el dato antes de editar y los demás esperan. Optimista: nadie espera, y al guardar se verifica que el dato no haya cambiado. En FutGo el comando manda la versión que el usuario vio; si cambió, responde 409. El chequeo y la escritura son una sola operación atómica, así que no hay nada que deshacer. Aclaración: frena el mismo daño que la key, pero no recuerda la acción repetida, solo compara estados.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Rectangle 1"/>
          <p:cNvSpPr/>
          <p:nvPr/>
        </p:nvSpPr>
        <p:spPr>
          <a:xfrm>
            <a:off x="0" y="5394960"/>
            <a:ext cx="12191695" cy="1463040"/>
          </a:xfrm>
          <a:prstGeom prst="rect">
            <a:avLst/>
          </a:prstGeom>
          <a:solidFill>
            <a:srgbClr val="2C6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058400" cy="457200"/>
          </a:xfrm>
          <a:prstGeom prst="rect">
            <a:avLst/>
          </a:prstGeom>
          <a:noFill/>
        </p:spPr>
        <p:txBody>
          <a:bodyPr wrap="square" anchor="t" lIns="45720" rIns="45720">
            <a:spAutoFit/>
          </a:bodyPr>
          <a:lstStyle/>
          <a:p>
            <a:pPr algn="l">
              <a:spcAft>
                <a:spcPts val="800"/>
              </a:spcAft>
            </a:pPr>
            <a:r>
              <a:rPr sz="1400" b="1">
                <a:solidFill>
                  <a:srgbClr val="F0C052"/>
                </a:solidFill>
                <a:latin typeface="Manrope"/>
              </a:rPr>
              <a:t>DEVOPS · ENTREGA FINAL</a:t>
            </a:r>
          </a:p>
        </p:txBody>
      </p:sp>
      <p:sp>
        <p:nvSpPr>
          <p:cNvPr id="4" name="TextBox 3"/>
          <p:cNvSpPr txBox="1"/>
          <p:nvPr/>
        </p:nvSpPr>
        <p:spPr>
          <a:xfrm>
            <a:off x="731520" y="1828800"/>
            <a:ext cx="10058400" cy="1463040"/>
          </a:xfrm>
          <a:prstGeom prst="rect">
            <a:avLst/>
          </a:prstGeom>
          <a:noFill/>
        </p:spPr>
        <p:txBody>
          <a:bodyPr wrap="square" anchor="t" lIns="45720" rIns="45720">
            <a:spAutoFit/>
          </a:bodyPr>
          <a:lstStyle/>
          <a:p>
            <a:pPr algn="l">
              <a:spcAft>
                <a:spcPts val="800"/>
              </a:spcAft>
            </a:pPr>
            <a:r>
              <a:rPr sz="9600" b="0">
                <a:solidFill>
                  <a:srgbClr val="F6EFD9"/>
                </a:solidFill>
                <a:latin typeface="Anton"/>
              </a:rPr>
              <a:t>FutGo</a:t>
            </a:r>
          </a:p>
        </p:txBody>
      </p:sp>
      <p:sp>
        <p:nvSpPr>
          <p:cNvPr id="5" name="TextBox 4"/>
          <p:cNvSpPr txBox="1"/>
          <p:nvPr/>
        </p:nvSpPr>
        <p:spPr>
          <a:xfrm>
            <a:off x="731520" y="3383280"/>
            <a:ext cx="10515600" cy="1097280"/>
          </a:xfrm>
          <a:prstGeom prst="rect">
            <a:avLst/>
          </a:prstGeom>
          <a:noFill/>
        </p:spPr>
        <p:txBody>
          <a:bodyPr wrap="square" anchor="t" lIns="45720" rIns="45720">
            <a:spAutoFit/>
          </a:bodyPr>
          <a:lstStyle/>
          <a:p>
            <a:pPr algn="l">
              <a:spcAft>
                <a:spcPts val="800"/>
              </a:spcAft>
            </a:pPr>
            <a:r>
              <a:rPr sz="2800" b="0">
                <a:solidFill>
                  <a:srgbClr val="F6EFD9"/>
                </a:solidFill>
                <a:latin typeface="Manrope"/>
              </a:rPr>
              <a:t>Partidos en vivo con Event Sourcing, CQRS e idempotencia</a:t>
            </a:r>
          </a:p>
        </p:txBody>
      </p:sp>
      <p:sp>
        <p:nvSpPr>
          <p:cNvPr id="6" name="TextBox 5"/>
          <p:cNvSpPr txBox="1"/>
          <p:nvPr/>
        </p:nvSpPr>
        <p:spPr>
          <a:xfrm>
            <a:off x="731520" y="5760720"/>
            <a:ext cx="10515600" cy="548640"/>
          </a:xfrm>
          <a:prstGeom prst="rect">
            <a:avLst/>
          </a:prstGeom>
          <a:noFill/>
        </p:spPr>
        <p:txBody>
          <a:bodyPr wrap="square" anchor="t" lIns="45720" rIns="45720">
            <a:spAutoFit/>
          </a:bodyPr>
          <a:lstStyle/>
          <a:p>
            <a:pPr algn="l">
              <a:spcAft>
                <a:spcPts val="800"/>
              </a:spcAft>
            </a:pPr>
            <a:r>
              <a:rPr sz="1800" b="1">
                <a:solidFill>
                  <a:srgbClr val="F6EFD9"/>
                </a:solidFill>
                <a:latin typeface="Manrope"/>
              </a:rPr>
              <a:t>Nginx  ·  3 réplicas  ·  Redis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nchor="t" lIns="45720" rIns="45720">
            <a:spAutoFit/>
          </a:bodyPr>
          <a:lstStyle/>
          <a:p>
            <a:pPr algn="l">
              <a:spcAft>
                <a:spcPts val="600"/>
              </a:spcAft>
            </a:pPr>
            <a:r>
              <a:rPr sz="1300" b="1">
                <a:solidFill>
                  <a:srgbClr val="F0C052"/>
                </a:solidFill>
                <a:latin typeface="Manrope"/>
              </a:rPr>
              <a:t>TEORÍA</a:t>
            </a:r>
          </a:p>
        </p:txBody>
      </p:sp>
      <p:sp>
        <p:nvSpPr>
          <p:cNvPr id="3" name="TextBox 2"/>
          <p:cNvSpPr txBox="1"/>
          <p:nvPr/>
        </p:nvSpPr>
        <p:spPr>
          <a:xfrm>
            <a:off x="731520" y="777240"/>
            <a:ext cx="10789920" cy="914400"/>
          </a:xfrm>
          <a:prstGeom prst="rect">
            <a:avLst/>
          </a:prstGeom>
          <a:noFill/>
        </p:spPr>
        <p:txBody>
          <a:bodyPr wrap="square" anchor="t" lIns="45720" rIns="45720">
            <a:spAutoFit/>
          </a:bodyPr>
          <a:lstStyle/>
          <a:p>
            <a:pPr algn="l">
              <a:spcAft>
                <a:spcPts val="600"/>
              </a:spcAft>
            </a:pPr>
            <a:r>
              <a:rPr sz="3800" b="0">
                <a:solidFill>
                  <a:srgbClr val="F6EFD9"/>
                </a:solidFill>
                <a:latin typeface="Anton"/>
              </a:rPr>
              <a:t>Los términos y cómo se relacionan</a:t>
            </a:r>
          </a:p>
        </p:txBody>
      </p:sp>
      <p:sp>
        <p:nvSpPr>
          <p:cNvPr id="4" name="Rounded Rectangle 3"/>
          <p:cNvSpPr/>
          <p:nvPr/>
        </p:nvSpPr>
        <p:spPr>
          <a:xfrm>
            <a:off x="731520" y="1783080"/>
            <a:ext cx="3429000" cy="1965960"/>
          </a:xfrm>
          <a:prstGeom prst="roundRect">
            <a:avLst>
              <a:gd name="adj" fmla="val 6000"/>
            </a:avLst>
          </a:prstGeom>
          <a:solidFill>
            <a:srgbClr val="1F2B25"/>
          </a:solidFill>
          <a:ln w="19050">
            <a:solidFill>
              <a:srgbClr val="F0C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920240"/>
            <a:ext cx="2011680" cy="310896"/>
          </a:xfrm>
          <a:prstGeom prst="roundRect">
            <a:avLst>
              <a:gd name="adj" fmla="val 50000"/>
            </a:avLst>
          </a:prstGeom>
          <a:solidFill>
            <a:srgbClr val="F0C05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1A1204"/>
                </a:solidFill>
                <a:latin typeface="Manrope"/>
              </a:rPr>
              <a:t>TEMA PRINCIPAL</a:t>
            </a:r>
          </a:p>
        </p:txBody>
      </p:sp>
      <p:sp>
        <p:nvSpPr>
          <p:cNvPr id="6" name="TextBox 5"/>
          <p:cNvSpPr txBox="1"/>
          <p:nvPr/>
        </p:nvSpPr>
        <p:spPr>
          <a:xfrm>
            <a:off x="914400" y="2286000"/>
            <a:ext cx="3108960" cy="502920"/>
          </a:xfrm>
          <a:prstGeom prst="rect">
            <a:avLst/>
          </a:prstGeom>
          <a:noFill/>
        </p:spPr>
        <p:txBody>
          <a:bodyPr wrap="square" anchor="t" lIns="45720" rIns="45720">
            <a:spAutoFit/>
          </a:bodyPr>
          <a:lstStyle/>
          <a:p>
            <a:pPr algn="l">
              <a:spcAft>
                <a:spcPts val="600"/>
              </a:spcAft>
            </a:pPr>
            <a:r>
              <a:rPr sz="2500" b="1">
                <a:solidFill>
                  <a:srgbClr val="F0C052"/>
                </a:solidFill>
                <a:latin typeface="Manrope"/>
              </a:rPr>
              <a:t>CQRS</a:t>
            </a:r>
          </a:p>
        </p:txBody>
      </p:sp>
      <p:sp>
        <p:nvSpPr>
          <p:cNvPr id="7" name="TextBox 6"/>
          <p:cNvSpPr txBox="1"/>
          <p:nvPr/>
        </p:nvSpPr>
        <p:spPr>
          <a:xfrm>
            <a:off x="914400" y="2788920"/>
            <a:ext cx="3108960" cy="320040"/>
          </a:xfrm>
          <a:prstGeom prst="rect">
            <a:avLst/>
          </a:prstGeom>
          <a:noFill/>
        </p:spPr>
        <p:txBody>
          <a:bodyPr wrap="square" anchor="t" lIns="45720" rIns="45720">
            <a:spAutoFit/>
          </a:bodyPr>
          <a:lstStyle/>
          <a:p>
            <a:pPr algn="l">
              <a:spcAft>
                <a:spcPts val="600"/>
              </a:spcAft>
            </a:pPr>
            <a:r>
              <a:rPr sz="1100" b="1">
                <a:solidFill>
                  <a:srgbClr val="B9B4A0"/>
                </a:solidFill>
                <a:latin typeface="Manrope"/>
              </a:rPr>
              <a:t>PATRÓN DE ARQUITECTURA</a:t>
            </a:r>
          </a:p>
        </p:txBody>
      </p:sp>
      <p:sp>
        <p:nvSpPr>
          <p:cNvPr id="8" name="TextBox 7"/>
          <p:cNvSpPr txBox="1"/>
          <p:nvPr/>
        </p:nvSpPr>
        <p:spPr>
          <a:xfrm>
            <a:off x="914400" y="3090672"/>
            <a:ext cx="3108960" cy="640080"/>
          </a:xfrm>
          <a:prstGeom prst="rect">
            <a:avLst/>
          </a:prstGeom>
          <a:noFill/>
        </p:spPr>
        <p:txBody>
          <a:bodyPr wrap="square" anchor="t" lIns="45720" rIns="45720">
            <a:spAutoFit/>
          </a:bodyPr>
          <a:lstStyle/>
          <a:p>
            <a:pPr algn="l">
              <a:spcAft>
                <a:spcPts val="600"/>
              </a:spcAft>
            </a:pPr>
            <a:r>
              <a:rPr sz="1400" b="0">
                <a:solidFill>
                  <a:srgbClr val="F6EFD9"/>
                </a:solidFill>
                <a:latin typeface="Manrope"/>
              </a:rPr>
              <a:t>Un modelo para escribir y otro distinto para leer.</a:t>
            </a:r>
          </a:p>
        </p:txBody>
      </p:sp>
      <p:sp>
        <p:nvSpPr>
          <p:cNvPr id="9" name="Rounded Rectangle 8"/>
          <p:cNvSpPr/>
          <p:nvPr/>
        </p:nvSpPr>
        <p:spPr>
          <a:xfrm>
            <a:off x="4389120" y="1783080"/>
            <a:ext cx="3429000" cy="1965960"/>
          </a:xfrm>
          <a:prstGeom prst="roundRect">
            <a:avLst>
              <a:gd name="adj" fmla="val 6000"/>
            </a:avLst>
          </a:prstGeom>
          <a:solidFill>
            <a:srgbClr val="1F2B25"/>
          </a:solidFill>
          <a:ln w="19050">
            <a:solidFill>
              <a:srgbClr val="F0C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1920240"/>
            <a:ext cx="2011680" cy="310896"/>
          </a:xfrm>
          <a:prstGeom prst="roundRect">
            <a:avLst>
              <a:gd name="adj" fmla="val 50000"/>
            </a:avLst>
          </a:prstGeom>
          <a:solidFill>
            <a:srgbClr val="F0C05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1A1204"/>
                </a:solidFill>
                <a:latin typeface="Manrope"/>
              </a:rPr>
              <a:t>TEMA PRINCIPAL</a:t>
            </a:r>
          </a:p>
        </p:txBody>
      </p:sp>
      <p:sp>
        <p:nvSpPr>
          <p:cNvPr id="11" name="TextBox 10"/>
          <p:cNvSpPr txBox="1"/>
          <p:nvPr/>
        </p:nvSpPr>
        <p:spPr>
          <a:xfrm>
            <a:off x="4572000" y="2286000"/>
            <a:ext cx="3108960" cy="502920"/>
          </a:xfrm>
          <a:prstGeom prst="rect">
            <a:avLst/>
          </a:prstGeom>
          <a:noFill/>
        </p:spPr>
        <p:txBody>
          <a:bodyPr wrap="square" anchor="t" lIns="45720" rIns="45720">
            <a:spAutoFit/>
          </a:bodyPr>
          <a:lstStyle/>
          <a:p>
            <a:pPr algn="l">
              <a:spcAft>
                <a:spcPts val="600"/>
              </a:spcAft>
            </a:pPr>
            <a:r>
              <a:rPr sz="2500" b="1">
                <a:solidFill>
                  <a:srgbClr val="F0C052"/>
                </a:solidFill>
                <a:latin typeface="Manrope"/>
              </a:rPr>
              <a:t>Idempotencia</a:t>
            </a:r>
          </a:p>
        </p:txBody>
      </p:sp>
      <p:sp>
        <p:nvSpPr>
          <p:cNvPr id="12" name="TextBox 11"/>
          <p:cNvSpPr txBox="1"/>
          <p:nvPr/>
        </p:nvSpPr>
        <p:spPr>
          <a:xfrm>
            <a:off x="4572000" y="2788920"/>
            <a:ext cx="3108960" cy="320040"/>
          </a:xfrm>
          <a:prstGeom prst="rect">
            <a:avLst/>
          </a:prstGeom>
          <a:noFill/>
        </p:spPr>
        <p:txBody>
          <a:bodyPr wrap="square" anchor="t" lIns="45720" rIns="45720">
            <a:spAutoFit/>
          </a:bodyPr>
          <a:lstStyle/>
          <a:p>
            <a:pPr algn="l">
              <a:spcAft>
                <a:spcPts val="600"/>
              </a:spcAft>
            </a:pPr>
            <a:r>
              <a:rPr sz="1100" b="1">
                <a:solidFill>
                  <a:srgbClr val="B9B4A0"/>
                </a:solidFill>
                <a:latin typeface="Manrope"/>
              </a:rPr>
              <a:t>PROPIEDAD DE UNA OPERACIÓN</a:t>
            </a:r>
          </a:p>
        </p:txBody>
      </p:sp>
      <p:sp>
        <p:nvSpPr>
          <p:cNvPr id="13" name="TextBox 12"/>
          <p:cNvSpPr txBox="1"/>
          <p:nvPr/>
        </p:nvSpPr>
        <p:spPr>
          <a:xfrm>
            <a:off x="4572000" y="3090672"/>
            <a:ext cx="3108960" cy="640080"/>
          </a:xfrm>
          <a:prstGeom prst="rect">
            <a:avLst/>
          </a:prstGeom>
          <a:noFill/>
        </p:spPr>
        <p:txBody>
          <a:bodyPr wrap="square" anchor="t" lIns="45720" rIns="45720">
            <a:spAutoFit/>
          </a:bodyPr>
          <a:lstStyle/>
          <a:p>
            <a:pPr algn="l">
              <a:spcAft>
                <a:spcPts val="600"/>
              </a:spcAft>
            </a:pPr>
            <a:r>
              <a:rPr sz="1400" b="0">
                <a:solidFill>
                  <a:srgbClr val="F6EFD9"/>
                </a:solidFill>
                <a:latin typeface="Manrope"/>
              </a:rPr>
              <a:t>Hacerla una o varias veces da el mismo resultado.</a:t>
            </a:r>
          </a:p>
        </p:txBody>
      </p:sp>
      <p:sp>
        <p:nvSpPr>
          <p:cNvPr id="14" name="Rounded Rectangle 13"/>
          <p:cNvSpPr/>
          <p:nvPr/>
        </p:nvSpPr>
        <p:spPr>
          <a:xfrm>
            <a:off x="8046720" y="1783080"/>
            <a:ext cx="3429000" cy="1965960"/>
          </a:xfrm>
          <a:prstGeom prst="roundRect">
            <a:avLst>
              <a:gd name="adj" fmla="val 6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29600" y="1920240"/>
            <a:ext cx="2377440" cy="310896"/>
          </a:xfrm>
          <a:prstGeom prst="roundRect">
            <a:avLst>
              <a:gd name="adj" fmla="val 50000"/>
            </a:avLst>
          </a:prstGeom>
          <a:solidFill>
            <a:srgbClr val="2A3831"/>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B9B4A0"/>
                </a:solidFill>
                <a:latin typeface="Manrope"/>
              </a:rPr>
              <a:t>LO SUMAMOS NOSOTROS</a:t>
            </a:r>
          </a:p>
        </p:txBody>
      </p:sp>
      <p:sp>
        <p:nvSpPr>
          <p:cNvPr id="16" name="TextBox 15"/>
          <p:cNvSpPr txBox="1"/>
          <p:nvPr/>
        </p:nvSpPr>
        <p:spPr>
          <a:xfrm>
            <a:off x="8229600" y="2286000"/>
            <a:ext cx="3108960" cy="502920"/>
          </a:xfrm>
          <a:prstGeom prst="rect">
            <a:avLst/>
          </a:prstGeom>
          <a:noFill/>
        </p:spPr>
        <p:txBody>
          <a:bodyPr wrap="square" anchor="t" lIns="45720" rIns="45720">
            <a:spAutoFit/>
          </a:bodyPr>
          <a:lstStyle/>
          <a:p>
            <a:pPr algn="l">
              <a:spcAft>
                <a:spcPts val="600"/>
              </a:spcAft>
            </a:pPr>
            <a:r>
              <a:rPr sz="2500" b="1">
                <a:solidFill>
                  <a:srgbClr val="F6EFD9"/>
                </a:solidFill>
                <a:latin typeface="Manrope"/>
              </a:rPr>
              <a:t>Event Sourcing</a:t>
            </a:r>
          </a:p>
        </p:txBody>
      </p:sp>
      <p:sp>
        <p:nvSpPr>
          <p:cNvPr id="17" name="TextBox 16"/>
          <p:cNvSpPr txBox="1"/>
          <p:nvPr/>
        </p:nvSpPr>
        <p:spPr>
          <a:xfrm>
            <a:off x="8229600" y="2788920"/>
            <a:ext cx="3108960" cy="320040"/>
          </a:xfrm>
          <a:prstGeom prst="rect">
            <a:avLst/>
          </a:prstGeom>
          <a:noFill/>
        </p:spPr>
        <p:txBody>
          <a:bodyPr wrap="square" anchor="t" lIns="45720" rIns="45720">
            <a:spAutoFit/>
          </a:bodyPr>
          <a:lstStyle/>
          <a:p>
            <a:pPr algn="l">
              <a:spcAft>
                <a:spcPts val="600"/>
              </a:spcAft>
            </a:pPr>
            <a:r>
              <a:rPr sz="1100" b="1">
                <a:solidFill>
                  <a:srgbClr val="B9B4A0"/>
                </a:solidFill>
                <a:latin typeface="Manrope"/>
              </a:rPr>
              <a:t>PATRÓN DE ARQUITECTURA</a:t>
            </a:r>
          </a:p>
        </p:txBody>
      </p:sp>
      <p:sp>
        <p:nvSpPr>
          <p:cNvPr id="18" name="TextBox 17"/>
          <p:cNvSpPr txBox="1"/>
          <p:nvPr/>
        </p:nvSpPr>
        <p:spPr>
          <a:xfrm>
            <a:off x="8229600" y="3090672"/>
            <a:ext cx="3108960" cy="640080"/>
          </a:xfrm>
          <a:prstGeom prst="rect">
            <a:avLst/>
          </a:prstGeom>
          <a:noFill/>
        </p:spPr>
        <p:txBody>
          <a:bodyPr wrap="square" anchor="t" lIns="45720" rIns="45720">
            <a:spAutoFit/>
          </a:bodyPr>
          <a:lstStyle/>
          <a:p>
            <a:pPr algn="l">
              <a:spcAft>
                <a:spcPts val="600"/>
              </a:spcAft>
            </a:pPr>
            <a:r>
              <a:rPr sz="1400" b="0">
                <a:solidFill>
                  <a:srgbClr val="F6EFD9"/>
                </a:solidFill>
                <a:latin typeface="Manrope"/>
              </a:rPr>
              <a:t>Se guardan los eventos, y el estado se calcula con ellos.</a:t>
            </a:r>
          </a:p>
        </p:txBody>
      </p:sp>
      <p:sp>
        <p:nvSpPr>
          <p:cNvPr id="19" name="TextBox 18"/>
          <p:cNvSpPr txBox="1"/>
          <p:nvPr/>
        </p:nvSpPr>
        <p:spPr>
          <a:xfrm>
            <a:off x="731520" y="3886200"/>
            <a:ext cx="7315200" cy="320040"/>
          </a:xfrm>
          <a:prstGeom prst="rect">
            <a:avLst/>
          </a:prstGeom>
          <a:noFill/>
        </p:spPr>
        <p:txBody>
          <a:bodyPr wrap="square" anchor="t" lIns="45720" rIns="45720">
            <a:spAutoFit/>
          </a:bodyPr>
          <a:lstStyle/>
          <a:p>
            <a:pPr algn="l">
              <a:spcAft>
                <a:spcPts val="600"/>
              </a:spcAft>
            </a:pPr>
            <a:r>
              <a:rPr sz="1200" b="1">
                <a:solidFill>
                  <a:srgbClr val="B9B4A0"/>
                </a:solidFill>
                <a:latin typeface="Manrope"/>
              </a:rPr>
              <a:t>CÓMO ENCAJAN EN FUTGO</a:t>
            </a:r>
          </a:p>
        </p:txBody>
      </p:sp>
      <p:sp>
        <p:nvSpPr>
          <p:cNvPr id="20" name="Rounded Rectangle 19"/>
          <p:cNvSpPr/>
          <p:nvPr/>
        </p:nvSpPr>
        <p:spPr>
          <a:xfrm>
            <a:off x="731520" y="4251960"/>
            <a:ext cx="2926080" cy="960120"/>
          </a:xfrm>
          <a:prstGeom prst="roundRect">
            <a:avLst>
              <a:gd name="adj" fmla="val 8000"/>
            </a:avLst>
          </a:prstGeom>
          <a:solidFill>
            <a:srgbClr val="1F2B25"/>
          </a:solidFill>
          <a:ln w="19050">
            <a:solidFill>
              <a:srgbClr val="F0C05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0C052"/>
                </a:solidFill>
                <a:latin typeface="Manrope"/>
              </a:rPr>
              <a:t>Escritura</a:t>
            </a:r>
          </a:p>
          <a:p>
            <a:pPr algn="ctr"/>
            <a:r>
              <a:rPr sz="1300">
                <a:solidFill>
                  <a:srgbClr val="F6EFD9"/>
                </a:solidFill>
                <a:latin typeface="Manrope"/>
              </a:rPr>
              <a:t>Event Sourcing: los eventos</a:t>
            </a:r>
          </a:p>
        </p:txBody>
      </p:sp>
      <p:sp>
        <p:nvSpPr>
          <p:cNvPr id="21" name="TextBox 20"/>
          <p:cNvSpPr txBox="1"/>
          <p:nvPr/>
        </p:nvSpPr>
        <p:spPr>
          <a:xfrm>
            <a:off x="3703320" y="4434840"/>
            <a:ext cx="548640" cy="548640"/>
          </a:xfrm>
          <a:prstGeom prst="rect">
            <a:avLst/>
          </a:prstGeom>
          <a:noFill/>
        </p:spPr>
        <p:txBody>
          <a:bodyPr wrap="square" anchor="t" lIns="45720" rIns="45720">
            <a:spAutoFit/>
          </a:bodyPr>
          <a:lstStyle/>
          <a:p>
            <a:pPr algn="ctr">
              <a:spcAft>
                <a:spcPts val="600"/>
              </a:spcAft>
            </a:pPr>
            <a:r>
              <a:rPr sz="2800" b="1">
                <a:solidFill>
                  <a:srgbClr val="F0C052"/>
                </a:solidFill>
                <a:latin typeface="Manrope"/>
              </a:rPr>
              <a:t>→</a:t>
            </a:r>
          </a:p>
        </p:txBody>
      </p:sp>
      <p:sp>
        <p:nvSpPr>
          <p:cNvPr id="22" name="Rounded Rectangle 21"/>
          <p:cNvSpPr/>
          <p:nvPr/>
        </p:nvSpPr>
        <p:spPr>
          <a:xfrm>
            <a:off x="4297680" y="4251960"/>
            <a:ext cx="2926080" cy="960120"/>
          </a:xfrm>
          <a:prstGeom prst="roundRect">
            <a:avLst>
              <a:gd name="adj" fmla="val 8000"/>
            </a:avLst>
          </a:prstGeom>
          <a:solidFill>
            <a:srgbClr val="2C6E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6EFD9"/>
                </a:solidFill>
                <a:latin typeface="Manrope"/>
              </a:rPr>
              <a:t>Proyector</a:t>
            </a:r>
          </a:p>
          <a:p>
            <a:pPr algn="ctr"/>
            <a:r>
              <a:rPr sz="1300">
                <a:solidFill>
                  <a:srgbClr val="F6EFD9"/>
                </a:solidFill>
                <a:latin typeface="Manrope"/>
              </a:rPr>
              <a:t>traduce eventos a tablas</a:t>
            </a:r>
          </a:p>
        </p:txBody>
      </p:sp>
      <p:sp>
        <p:nvSpPr>
          <p:cNvPr id="23" name="TextBox 22"/>
          <p:cNvSpPr txBox="1"/>
          <p:nvPr/>
        </p:nvSpPr>
        <p:spPr>
          <a:xfrm>
            <a:off x="7269480" y="4434840"/>
            <a:ext cx="548640" cy="548640"/>
          </a:xfrm>
          <a:prstGeom prst="rect">
            <a:avLst/>
          </a:prstGeom>
          <a:noFill/>
        </p:spPr>
        <p:txBody>
          <a:bodyPr wrap="square" anchor="t" lIns="45720" rIns="45720">
            <a:spAutoFit/>
          </a:bodyPr>
          <a:lstStyle/>
          <a:p>
            <a:pPr algn="ctr">
              <a:spcAft>
                <a:spcPts val="600"/>
              </a:spcAft>
            </a:pPr>
            <a:r>
              <a:rPr sz="2800" b="1">
                <a:solidFill>
                  <a:srgbClr val="F0C052"/>
                </a:solidFill>
                <a:latin typeface="Manrope"/>
              </a:rPr>
              <a:t>→</a:t>
            </a:r>
          </a:p>
        </p:txBody>
      </p:sp>
      <p:sp>
        <p:nvSpPr>
          <p:cNvPr id="24" name="Rounded Rectangle 23"/>
          <p:cNvSpPr/>
          <p:nvPr/>
        </p:nvSpPr>
        <p:spPr>
          <a:xfrm>
            <a:off x="7863840" y="4251960"/>
            <a:ext cx="3611880" cy="96012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0C052"/>
                </a:solidFill>
                <a:latin typeface="Manrope"/>
              </a:rPr>
              <a:t>Lectura</a:t>
            </a:r>
          </a:p>
          <a:p>
            <a:pPr algn="ctr"/>
            <a:r>
              <a:rPr sz="1300">
                <a:solidFill>
                  <a:srgbClr val="F6EFD9"/>
                </a:solidFill>
                <a:latin typeface="Manrope"/>
              </a:rPr>
              <a:t>tabla y marcadores ya calculados</a:t>
            </a:r>
          </a:p>
        </p:txBody>
      </p:sp>
      <p:sp>
        <p:nvSpPr>
          <p:cNvPr id="25" name="TextBox 24"/>
          <p:cNvSpPr txBox="1"/>
          <p:nvPr/>
        </p:nvSpPr>
        <p:spPr>
          <a:xfrm>
            <a:off x="731520" y="5230368"/>
            <a:ext cx="6400800" cy="274320"/>
          </a:xfrm>
          <a:prstGeom prst="rect">
            <a:avLst/>
          </a:prstGeom>
          <a:noFill/>
        </p:spPr>
        <p:txBody>
          <a:bodyPr wrap="square" anchor="t" lIns="45720" rIns="45720">
            <a:spAutoFit/>
          </a:bodyPr>
          <a:lstStyle/>
          <a:p>
            <a:pPr algn="ctr">
              <a:spcAft>
                <a:spcPts val="600"/>
              </a:spcAft>
            </a:pPr>
            <a:r>
              <a:rPr sz="1200" b="1">
                <a:solidFill>
                  <a:srgbClr val="F0C052"/>
                </a:solidFill>
                <a:latin typeface="Manrope"/>
              </a:rPr>
              <a:t>└────────  CQRS: escribir y leer van por separado  ────────┘</a:t>
            </a:r>
          </a:p>
        </p:txBody>
      </p:sp>
      <p:sp>
        <p:nvSpPr>
          <p:cNvPr id="26" name="TextBox 25"/>
          <p:cNvSpPr txBox="1"/>
          <p:nvPr/>
        </p:nvSpPr>
        <p:spPr>
          <a:xfrm>
            <a:off x="731520" y="5577840"/>
            <a:ext cx="10744200" cy="365760"/>
          </a:xfrm>
          <a:prstGeom prst="rect">
            <a:avLst/>
          </a:prstGeom>
          <a:noFill/>
        </p:spPr>
        <p:txBody>
          <a:bodyPr wrap="square" anchor="t" lIns="45720" rIns="45720">
            <a:spAutoFit/>
          </a:bodyPr>
          <a:lstStyle/>
          <a:p>
            <a:pPr algn="ctr">
              <a:spcAft>
                <a:spcPts val="600"/>
              </a:spcAft>
            </a:pPr>
            <a:r>
              <a:rPr sz="1600" b="1">
                <a:solidFill>
                  <a:srgbClr val="F6EFD9"/>
                </a:solidFill>
                <a:latin typeface="Manrope"/>
              </a:rPr>
              <a:t>Idempotencia protege todo el recorrido: un pedido repetido no se aplica dos veces.</a:t>
            </a:r>
          </a:p>
        </p:txBody>
      </p:sp>
      <p:sp>
        <p:nvSpPr>
          <p:cNvPr id="27" name="TextBox 26"/>
          <p:cNvSpPr txBox="1"/>
          <p:nvPr/>
        </p:nvSpPr>
        <p:spPr>
          <a:xfrm>
            <a:off x="731520" y="5989320"/>
            <a:ext cx="10744200" cy="457200"/>
          </a:xfrm>
          <a:prstGeom prst="rect">
            <a:avLst/>
          </a:prstGeom>
          <a:noFill/>
        </p:spPr>
        <p:txBody>
          <a:bodyPr wrap="square" anchor="t" lIns="45720" rIns="45720">
            <a:spAutoFit/>
          </a:bodyPr>
          <a:lstStyle/>
          <a:p>
            <a:pPr algn="ctr">
              <a:spcAft>
                <a:spcPts val="600"/>
              </a:spcAft>
            </a:pPr>
            <a:r>
              <a:rPr sz="1300" b="0">
                <a:solidFill>
                  <a:srgbClr val="B9B4A0"/>
                </a:solidFill>
                <a:latin typeface="Manrope"/>
              </a:rPr>
              <a:t>¿Por qué Event Sourcing? Un partido ya es una secuencia de hechos, la versión sale de contar eventos y el proyector tiene de dónde leer.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nchor="t" lIns="45720" rIns="45720">
            <a:spAutoFit/>
          </a:bodyPr>
          <a:lstStyle/>
          <a:p>
            <a:pPr algn="l">
              <a:spcAft>
                <a:spcPts val="600"/>
              </a:spcAft>
            </a:pPr>
            <a:r>
              <a:rPr sz="1300" b="1">
                <a:solidFill>
                  <a:srgbClr val="F0C052"/>
                </a:solidFill>
                <a:latin typeface="Manrope"/>
              </a:rPr>
              <a:t>TEMA PRINCIPAL · CQRS</a:t>
            </a:r>
          </a:p>
        </p:txBody>
      </p:sp>
      <p:sp>
        <p:nvSpPr>
          <p:cNvPr id="3" name="TextBox 2"/>
          <p:cNvSpPr txBox="1"/>
          <p:nvPr/>
        </p:nvSpPr>
        <p:spPr>
          <a:xfrm>
            <a:off x="731520" y="777240"/>
            <a:ext cx="10789920" cy="914400"/>
          </a:xfrm>
          <a:prstGeom prst="rect">
            <a:avLst/>
          </a:prstGeom>
          <a:noFill/>
        </p:spPr>
        <p:txBody>
          <a:bodyPr wrap="square" anchor="t" lIns="45720" rIns="45720">
            <a:spAutoFit/>
          </a:bodyPr>
          <a:lstStyle/>
          <a:p>
            <a:pPr algn="l">
              <a:spcAft>
                <a:spcPts val="600"/>
              </a:spcAft>
            </a:pPr>
            <a:r>
              <a:rPr sz="3800" b="0">
                <a:solidFill>
                  <a:srgbClr val="F6EFD9"/>
                </a:solidFill>
                <a:latin typeface="Anton"/>
              </a:rPr>
              <a:t>Escribir y leer por separado</a:t>
            </a:r>
          </a:p>
        </p:txBody>
      </p:sp>
      <p:sp>
        <p:nvSpPr>
          <p:cNvPr id="4" name="Rounded Rectangle 3"/>
          <p:cNvSpPr/>
          <p:nvPr/>
        </p:nvSpPr>
        <p:spPr>
          <a:xfrm>
            <a:off x="731520" y="1874519"/>
            <a:ext cx="3429000" cy="310896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79"/>
            <a:ext cx="3063240" cy="411480"/>
          </a:xfrm>
          <a:prstGeom prst="rect">
            <a:avLst/>
          </a:prstGeom>
          <a:noFill/>
        </p:spPr>
        <p:txBody>
          <a:bodyPr wrap="square" anchor="t" lIns="45720" rIns="45720">
            <a:spAutoFit/>
          </a:bodyPr>
          <a:lstStyle/>
          <a:p>
            <a:pPr algn="l">
              <a:spcAft>
                <a:spcPts val="600"/>
              </a:spcAft>
            </a:pPr>
            <a:r>
              <a:rPr sz="1800" b="1">
                <a:solidFill>
                  <a:srgbClr val="7FCF8E"/>
                </a:solidFill>
                <a:latin typeface="Manrope"/>
              </a:rPr>
              <a:t>Ventajas</a:t>
            </a:r>
          </a:p>
        </p:txBody>
      </p:sp>
      <p:sp>
        <p:nvSpPr>
          <p:cNvPr id="6" name="TextBox 5"/>
          <p:cNvSpPr txBox="1"/>
          <p:nvPr/>
        </p:nvSpPr>
        <p:spPr>
          <a:xfrm>
            <a:off x="914400" y="2514600"/>
            <a:ext cx="3063240" cy="2377439"/>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Cada lado se optimiza por separado</a:t>
            </a:r>
          </a:p>
          <a:p>
            <a:pPr algn="l">
              <a:spcAft>
                <a:spcPts val="800"/>
              </a:spcAft>
            </a:pPr>
            <a:r>
              <a:rPr sz="1500" b="0">
                <a:solidFill>
                  <a:srgbClr val="F6EFD9"/>
                </a:solidFill>
                <a:latin typeface="Manrope"/>
              </a:rPr>
              <a:t>•  Lecturas rápidas: ya están calculadas</a:t>
            </a:r>
          </a:p>
          <a:p>
            <a:pPr algn="l">
              <a:spcAft>
                <a:spcPts val="800"/>
              </a:spcAft>
            </a:pPr>
            <a:r>
              <a:rPr sz="1500" b="0">
                <a:solidFill>
                  <a:srgbClr val="F6EFD9"/>
                </a:solidFill>
                <a:latin typeface="Manrope"/>
              </a:rPr>
              <a:t>•  Se pueden sumar vistas nuevas sin tocar la escritura</a:t>
            </a:r>
          </a:p>
        </p:txBody>
      </p:sp>
      <p:sp>
        <p:nvSpPr>
          <p:cNvPr id="7" name="Rounded Rectangle 6"/>
          <p:cNvSpPr/>
          <p:nvPr/>
        </p:nvSpPr>
        <p:spPr>
          <a:xfrm>
            <a:off x="4389120" y="1874519"/>
            <a:ext cx="3429000" cy="310896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011679"/>
            <a:ext cx="3063240" cy="411480"/>
          </a:xfrm>
          <a:prstGeom prst="rect">
            <a:avLst/>
          </a:prstGeom>
          <a:noFill/>
        </p:spPr>
        <p:txBody>
          <a:bodyPr wrap="square" anchor="t" lIns="45720" rIns="45720">
            <a:spAutoFit/>
          </a:bodyPr>
          <a:lstStyle/>
          <a:p>
            <a:pPr algn="l">
              <a:spcAft>
                <a:spcPts val="600"/>
              </a:spcAft>
            </a:pPr>
            <a:r>
              <a:rPr sz="1800" b="1">
                <a:solidFill>
                  <a:srgbClr val="EE8A7D"/>
                </a:solidFill>
                <a:latin typeface="Manrope"/>
              </a:rPr>
              <a:t>Desventajas</a:t>
            </a:r>
          </a:p>
        </p:txBody>
      </p:sp>
      <p:sp>
        <p:nvSpPr>
          <p:cNvPr id="9" name="TextBox 8"/>
          <p:cNvSpPr txBox="1"/>
          <p:nvPr/>
        </p:nvSpPr>
        <p:spPr>
          <a:xfrm>
            <a:off x="4572000" y="2514600"/>
            <a:ext cx="3063240" cy="2377439"/>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La lectura llega con retraso (consistencia eventual)</a:t>
            </a:r>
          </a:p>
          <a:p>
            <a:pPr algn="l">
              <a:spcAft>
                <a:spcPts val="800"/>
              </a:spcAft>
            </a:pPr>
            <a:r>
              <a:rPr sz="1500" b="0">
                <a:solidFill>
                  <a:srgbClr val="F6EFD9"/>
                </a:solidFill>
                <a:latin typeface="Manrope"/>
              </a:rPr>
              <a:t>•  Más piezas: proyector y dos modelos</a:t>
            </a:r>
          </a:p>
          <a:p>
            <a:pPr algn="l">
              <a:spcAft>
                <a:spcPts val="800"/>
              </a:spcAft>
            </a:pPr>
            <a:r>
              <a:rPr sz="1500" b="0">
                <a:solidFill>
                  <a:srgbClr val="F6EFD9"/>
                </a:solidFill>
                <a:latin typeface="Manrope"/>
              </a:rPr>
              <a:t>•  Más código para mantener</a:t>
            </a:r>
          </a:p>
        </p:txBody>
      </p:sp>
      <p:sp>
        <p:nvSpPr>
          <p:cNvPr id="10" name="Rounded Rectangle 9"/>
          <p:cNvSpPr/>
          <p:nvPr/>
        </p:nvSpPr>
        <p:spPr>
          <a:xfrm>
            <a:off x="8046720" y="1874519"/>
            <a:ext cx="3429000" cy="310896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011679"/>
            <a:ext cx="3063240" cy="411480"/>
          </a:xfrm>
          <a:prstGeom prst="rect">
            <a:avLst/>
          </a:prstGeom>
          <a:noFill/>
        </p:spPr>
        <p:txBody>
          <a:bodyPr wrap="square" anchor="t" lIns="45720" rIns="45720">
            <a:spAutoFit/>
          </a:bodyPr>
          <a:lstStyle/>
          <a:p>
            <a:pPr algn="l">
              <a:spcAft>
                <a:spcPts val="600"/>
              </a:spcAft>
            </a:pPr>
            <a:r>
              <a:rPr sz="1800" b="1">
                <a:solidFill>
                  <a:srgbClr val="F0C052"/>
                </a:solidFill>
                <a:latin typeface="Manrope"/>
              </a:rPr>
              <a:t>Cuándo no conviene</a:t>
            </a:r>
          </a:p>
        </p:txBody>
      </p:sp>
      <p:sp>
        <p:nvSpPr>
          <p:cNvPr id="12" name="TextBox 11"/>
          <p:cNvSpPr txBox="1"/>
          <p:nvPr/>
        </p:nvSpPr>
        <p:spPr>
          <a:xfrm>
            <a:off x="8229600" y="2514600"/>
            <a:ext cx="3063240" cy="2377439"/>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CRUD simple: lo que se escribe es lo que se lee</a:t>
            </a:r>
          </a:p>
          <a:p>
            <a:pPr algn="l">
              <a:spcAft>
                <a:spcPts val="800"/>
              </a:spcAft>
            </a:pPr>
            <a:r>
              <a:rPr sz="1500" b="0">
                <a:solidFill>
                  <a:srgbClr val="F6EFD9"/>
                </a:solidFill>
                <a:latin typeface="Manrope"/>
              </a:rPr>
              <a:t>•  Poco tráfico y pantallas simples</a:t>
            </a:r>
          </a:p>
          <a:p>
            <a:pPr algn="l">
              <a:spcAft>
                <a:spcPts val="800"/>
              </a:spcAft>
            </a:pPr>
            <a:r>
              <a:rPr sz="1500" b="0">
                <a:solidFill>
                  <a:srgbClr val="F6EFD9"/>
                </a:solidFill>
                <a:latin typeface="Manrope"/>
              </a:rPr>
              <a:t>•  Cuando el retraso en leer no se puede tolerar</a:t>
            </a:r>
          </a:p>
        </p:txBody>
      </p:sp>
      <p:sp>
        <p:nvSpPr>
          <p:cNvPr id="13" name="Rounded Rectangle 12"/>
          <p:cNvSpPr/>
          <p:nvPr/>
        </p:nvSpPr>
        <p:spPr>
          <a:xfrm>
            <a:off x="731520" y="5212080"/>
            <a:ext cx="10744200" cy="1234440"/>
          </a:xfrm>
          <a:prstGeom prst="roundRect">
            <a:avLst>
              <a:gd name="adj" fmla="val 8000"/>
            </a:avLst>
          </a:prstGeom>
          <a:solidFill>
            <a:srgbClr val="1F2B25"/>
          </a:solidFill>
          <a:ln w="19050">
            <a:solidFill>
              <a:srgbClr val="2C6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03520"/>
            <a:ext cx="1737360" cy="365760"/>
          </a:xfrm>
          <a:prstGeom prst="rect">
            <a:avLst/>
          </a:prstGeom>
          <a:noFill/>
        </p:spPr>
        <p:txBody>
          <a:bodyPr wrap="square" anchor="t" lIns="45720" rIns="45720">
            <a:spAutoFit/>
          </a:bodyPr>
          <a:lstStyle/>
          <a:p>
            <a:pPr algn="l">
              <a:spcAft>
                <a:spcPts val="600"/>
              </a:spcAft>
            </a:pPr>
            <a:r>
              <a:rPr sz="1200" b="1">
                <a:solidFill>
                  <a:srgbClr val="F0C052"/>
                </a:solidFill>
                <a:latin typeface="Manrope"/>
              </a:rPr>
              <a:t>EN FUTGO</a:t>
            </a:r>
          </a:p>
        </p:txBody>
      </p:sp>
      <p:sp>
        <p:nvSpPr>
          <p:cNvPr id="15" name="TextBox 14"/>
          <p:cNvSpPr txBox="1"/>
          <p:nvPr/>
        </p:nvSpPr>
        <p:spPr>
          <a:xfrm>
            <a:off x="914400" y="5596128"/>
            <a:ext cx="5029200" cy="822960"/>
          </a:xfrm>
          <a:prstGeom prst="rect">
            <a:avLst/>
          </a:prstGeom>
          <a:noFill/>
        </p:spPr>
        <p:txBody>
          <a:bodyPr wrap="square" anchor="t" lIns="45720" rIns="45720">
            <a:spAutoFit/>
          </a:bodyPr>
          <a:lstStyle/>
          <a:p>
            <a:pPr algn="l">
              <a:spcAft>
                <a:spcPts val="600"/>
              </a:spcAft>
            </a:pPr>
            <a:r>
              <a:rPr sz="1500" b="0">
                <a:solidFill>
                  <a:srgbClr val="F6EFD9"/>
                </a:solidFill>
                <a:latin typeface="Manrope"/>
              </a:rPr>
              <a:t>Registrar un gol (validar reglas) y ver la tabla (leer rápido) son trabajos distintos.</a:t>
            </a:r>
          </a:p>
        </p:txBody>
      </p:sp>
      <p:sp>
        <p:nvSpPr>
          <p:cNvPr id="16" name="TextBox 15"/>
          <p:cNvSpPr txBox="1"/>
          <p:nvPr/>
        </p:nvSpPr>
        <p:spPr>
          <a:xfrm>
            <a:off x="6309360" y="5303520"/>
            <a:ext cx="1828800" cy="365760"/>
          </a:xfrm>
          <a:prstGeom prst="rect">
            <a:avLst/>
          </a:prstGeom>
          <a:noFill/>
        </p:spPr>
        <p:txBody>
          <a:bodyPr wrap="square" anchor="t" lIns="45720" rIns="45720">
            <a:spAutoFit/>
          </a:bodyPr>
          <a:lstStyle/>
          <a:p>
            <a:pPr algn="l">
              <a:spcAft>
                <a:spcPts val="600"/>
              </a:spcAft>
            </a:pPr>
            <a:r>
              <a:rPr sz="1200" b="1">
                <a:solidFill>
                  <a:srgbClr val="F0C052"/>
                </a:solidFill>
                <a:latin typeface="Manrope"/>
              </a:rPr>
              <a:t>CONTRAEJEMPLO</a:t>
            </a:r>
          </a:p>
        </p:txBody>
      </p:sp>
      <p:sp>
        <p:nvSpPr>
          <p:cNvPr id="17" name="TextBox 16"/>
          <p:cNvSpPr txBox="1"/>
          <p:nvPr/>
        </p:nvSpPr>
        <p:spPr>
          <a:xfrm>
            <a:off x="6309360" y="5596128"/>
            <a:ext cx="5029200" cy="822960"/>
          </a:xfrm>
          <a:prstGeom prst="rect">
            <a:avLst/>
          </a:prstGeom>
          <a:noFill/>
        </p:spPr>
        <p:txBody>
          <a:bodyPr wrap="square" anchor="t" lIns="45720" rIns="45720">
            <a:spAutoFit/>
          </a:bodyPr>
          <a:lstStyle/>
          <a:p>
            <a:pPr algn="l">
              <a:spcAft>
                <a:spcPts val="600"/>
              </a:spcAft>
            </a:pPr>
            <a:r>
              <a:rPr sz="1500" b="0">
                <a:solidFill>
                  <a:srgbClr val="F6EFD9"/>
                </a:solidFill>
                <a:latin typeface="Manrope"/>
              </a:rPr>
              <a:t>Equipos y jugadores: se leen igual que se guardan. Siguen siendo un CRUD.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nchor="t" lIns="45720" rIns="45720">
            <a:spAutoFit/>
          </a:bodyPr>
          <a:lstStyle/>
          <a:p>
            <a:pPr algn="l">
              <a:spcAft>
                <a:spcPts val="600"/>
              </a:spcAft>
            </a:pPr>
            <a:r>
              <a:rPr sz="1300" b="1">
                <a:solidFill>
                  <a:srgbClr val="F0C052"/>
                </a:solidFill>
                <a:latin typeface="Manrope"/>
              </a:rPr>
              <a:t>TEMA PRINCIPAL · CQRS</a:t>
            </a:r>
          </a:p>
        </p:txBody>
      </p:sp>
      <p:sp>
        <p:nvSpPr>
          <p:cNvPr id="3" name="TextBox 2"/>
          <p:cNvSpPr txBox="1"/>
          <p:nvPr/>
        </p:nvSpPr>
        <p:spPr>
          <a:xfrm>
            <a:off x="731520" y="777240"/>
            <a:ext cx="10789920" cy="914400"/>
          </a:xfrm>
          <a:prstGeom prst="rect">
            <a:avLst/>
          </a:prstGeom>
          <a:noFill/>
        </p:spPr>
        <p:txBody>
          <a:bodyPr wrap="square" anchor="t" lIns="45720" rIns="45720">
            <a:spAutoFit/>
          </a:bodyPr>
          <a:lstStyle/>
          <a:p>
            <a:pPr algn="l">
              <a:spcAft>
                <a:spcPts val="600"/>
              </a:spcAft>
            </a:pPr>
            <a:r>
              <a:rPr sz="3800" b="0">
                <a:solidFill>
                  <a:srgbClr val="F6EFD9"/>
                </a:solidFill>
                <a:latin typeface="Anton"/>
              </a:rPr>
              <a:t>Grados y otros ejemplos</a:t>
            </a:r>
          </a:p>
        </p:txBody>
      </p:sp>
      <p:sp>
        <p:nvSpPr>
          <p:cNvPr id="4" name="TextBox 3"/>
          <p:cNvSpPr txBox="1"/>
          <p:nvPr/>
        </p:nvSpPr>
        <p:spPr>
          <a:xfrm>
            <a:off x="731520" y="1691640"/>
            <a:ext cx="5486400" cy="274320"/>
          </a:xfrm>
          <a:prstGeom prst="rect">
            <a:avLst/>
          </a:prstGeom>
          <a:noFill/>
        </p:spPr>
        <p:txBody>
          <a:bodyPr wrap="square" anchor="t" lIns="45720" rIns="45720">
            <a:spAutoFit/>
          </a:bodyPr>
          <a:lstStyle/>
          <a:p>
            <a:pPr algn="l">
              <a:spcAft>
                <a:spcPts val="600"/>
              </a:spcAft>
            </a:pPr>
            <a:r>
              <a:rPr sz="1200" b="1">
                <a:solidFill>
                  <a:srgbClr val="B9B4A0"/>
                </a:solidFill>
                <a:latin typeface="Manrope"/>
              </a:rPr>
              <a:t>QUÉ TAN SEPARADOS ESTÁN LOS DOS LADOS</a:t>
            </a:r>
          </a:p>
        </p:txBody>
      </p:sp>
      <p:sp>
        <p:nvSpPr>
          <p:cNvPr id="5" name="Rounded Rectangle 4"/>
          <p:cNvSpPr/>
          <p:nvPr/>
        </p:nvSpPr>
        <p:spPr>
          <a:xfrm>
            <a:off x="731520" y="2011680"/>
            <a:ext cx="5852160" cy="1325880"/>
          </a:xfrm>
          <a:prstGeom prst="roundRect">
            <a:avLst>
              <a:gd name="adj" fmla="val 6000"/>
            </a:avLst>
          </a:prstGeom>
          <a:solidFill>
            <a:srgbClr val="1F2B25"/>
          </a:solidFill>
          <a:ln w="19050">
            <a:solidFill>
              <a:srgbClr val="F0C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84832"/>
            <a:ext cx="5394960" cy="320040"/>
          </a:xfrm>
          <a:prstGeom prst="rect">
            <a:avLst/>
          </a:prstGeom>
          <a:noFill/>
        </p:spPr>
        <p:txBody>
          <a:bodyPr wrap="square" anchor="t" lIns="45720" rIns="45720">
            <a:spAutoFit/>
          </a:bodyPr>
          <a:lstStyle/>
          <a:p>
            <a:pPr algn="l">
              <a:spcAft>
                <a:spcPts val="600"/>
              </a:spcAft>
            </a:pPr>
            <a:r>
              <a:rPr sz="1500" b="1">
                <a:solidFill>
                  <a:srgbClr val="F0C052"/>
                </a:solidFill>
                <a:latin typeface="Manrope"/>
              </a:rPr>
              <a:t>Nivel 1 · Un solo almacén</a:t>
            </a:r>
          </a:p>
        </p:txBody>
      </p:sp>
      <p:sp>
        <p:nvSpPr>
          <p:cNvPr id="7" name="Rounded Rectangle 6"/>
          <p:cNvSpPr/>
          <p:nvPr/>
        </p:nvSpPr>
        <p:spPr>
          <a:xfrm>
            <a:off x="914400" y="2468880"/>
            <a:ext cx="1417320" cy="50292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0C052"/>
                </a:solidFill>
                <a:latin typeface="Manrope"/>
              </a:rPr>
              <a:t>Escritura</a:t>
            </a:r>
          </a:p>
        </p:txBody>
      </p:sp>
      <p:sp>
        <p:nvSpPr>
          <p:cNvPr id="8" name="TextBox 7"/>
          <p:cNvSpPr txBox="1"/>
          <p:nvPr/>
        </p:nvSpPr>
        <p:spPr>
          <a:xfrm>
            <a:off x="2331720" y="2423160"/>
            <a:ext cx="548640" cy="548640"/>
          </a:xfrm>
          <a:prstGeom prst="rect">
            <a:avLst/>
          </a:prstGeom>
          <a:noFill/>
        </p:spPr>
        <p:txBody>
          <a:bodyPr wrap="square" anchor="t" lIns="45720" rIns="45720">
            <a:spAutoFit/>
          </a:bodyPr>
          <a:lstStyle/>
          <a:p>
            <a:pPr algn="ctr">
              <a:spcAft>
                <a:spcPts val="600"/>
              </a:spcAft>
            </a:pPr>
            <a:r>
              <a:rPr sz="2200" b="1">
                <a:solidFill>
                  <a:srgbClr val="F0C052"/>
                </a:solidFill>
                <a:latin typeface="Manrope"/>
              </a:rPr>
              <a:t>→</a:t>
            </a:r>
          </a:p>
        </p:txBody>
      </p:sp>
      <p:sp>
        <p:nvSpPr>
          <p:cNvPr id="9" name="Rounded Rectangle 8"/>
          <p:cNvSpPr/>
          <p:nvPr/>
        </p:nvSpPr>
        <p:spPr>
          <a:xfrm>
            <a:off x="2834640" y="2468880"/>
            <a:ext cx="1554480" cy="50292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0C052"/>
                </a:solidFill>
                <a:latin typeface="Manrope"/>
              </a:rPr>
              <a:t>Lectura</a:t>
            </a:r>
          </a:p>
        </p:txBody>
      </p:sp>
      <p:sp>
        <p:nvSpPr>
          <p:cNvPr id="10" name="TextBox 9"/>
          <p:cNvSpPr txBox="1"/>
          <p:nvPr/>
        </p:nvSpPr>
        <p:spPr>
          <a:xfrm>
            <a:off x="914400" y="2971800"/>
            <a:ext cx="5486400" cy="365760"/>
          </a:xfrm>
          <a:prstGeom prst="rect">
            <a:avLst/>
          </a:prstGeom>
          <a:noFill/>
        </p:spPr>
        <p:txBody>
          <a:bodyPr wrap="square" anchor="t" lIns="45720" rIns="45720">
            <a:spAutoFit/>
          </a:bodyPr>
          <a:lstStyle/>
          <a:p>
            <a:pPr algn="l">
              <a:spcAft>
                <a:spcPts val="600"/>
              </a:spcAft>
            </a:pPr>
            <a:r>
              <a:rPr sz="1200" b="0">
                <a:solidFill>
                  <a:srgbClr val="F6EFD9"/>
                </a:solidFill>
                <a:latin typeface="Manrope"/>
              </a:rPr>
              <a:t>Dos modelos en el mismo servidor. Es FutGo: Redis, con claves distintas.</a:t>
            </a:r>
          </a:p>
        </p:txBody>
      </p:sp>
      <p:sp>
        <p:nvSpPr>
          <p:cNvPr id="11" name="Rounded Rectangle 10"/>
          <p:cNvSpPr/>
          <p:nvPr/>
        </p:nvSpPr>
        <p:spPr>
          <a:xfrm>
            <a:off x="5212080" y="2103120"/>
            <a:ext cx="1188720" cy="310896"/>
          </a:xfrm>
          <a:prstGeom prst="roundRect">
            <a:avLst>
              <a:gd name="adj" fmla="val 50000"/>
            </a:avLst>
          </a:prstGeom>
          <a:solidFill>
            <a:srgbClr val="F0C05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1A1204"/>
                </a:solidFill>
                <a:latin typeface="Manrope"/>
              </a:rPr>
              <a:t>EN FUTGO</a:t>
            </a:r>
          </a:p>
        </p:txBody>
      </p:sp>
      <p:sp>
        <p:nvSpPr>
          <p:cNvPr id="12" name="Rounded Rectangle 11"/>
          <p:cNvSpPr/>
          <p:nvPr/>
        </p:nvSpPr>
        <p:spPr>
          <a:xfrm>
            <a:off x="731520" y="3474720"/>
            <a:ext cx="5852160" cy="1325880"/>
          </a:xfrm>
          <a:prstGeom prst="roundRect">
            <a:avLst>
              <a:gd name="adj" fmla="val 6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547872"/>
            <a:ext cx="5394960" cy="320040"/>
          </a:xfrm>
          <a:prstGeom prst="rect">
            <a:avLst/>
          </a:prstGeom>
          <a:noFill/>
        </p:spPr>
        <p:txBody>
          <a:bodyPr wrap="square" anchor="t" lIns="45720" rIns="45720">
            <a:spAutoFit/>
          </a:bodyPr>
          <a:lstStyle/>
          <a:p>
            <a:pPr algn="l">
              <a:spcAft>
                <a:spcPts val="600"/>
              </a:spcAft>
            </a:pPr>
            <a:r>
              <a:rPr sz="1500" b="1">
                <a:solidFill>
                  <a:srgbClr val="F0C052"/>
                </a:solidFill>
                <a:latin typeface="Manrope"/>
              </a:rPr>
              <a:t>Nivel 2 · Servidores separados</a:t>
            </a:r>
          </a:p>
        </p:txBody>
      </p:sp>
      <p:sp>
        <p:nvSpPr>
          <p:cNvPr id="14" name="Rounded Rectangle 13"/>
          <p:cNvSpPr/>
          <p:nvPr/>
        </p:nvSpPr>
        <p:spPr>
          <a:xfrm>
            <a:off x="914400" y="3931920"/>
            <a:ext cx="1417320" cy="50292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0C052"/>
                </a:solidFill>
                <a:latin typeface="Manrope"/>
              </a:rPr>
              <a:t>Primario</a:t>
            </a:r>
          </a:p>
        </p:txBody>
      </p:sp>
      <p:sp>
        <p:nvSpPr>
          <p:cNvPr id="15" name="TextBox 14"/>
          <p:cNvSpPr txBox="1"/>
          <p:nvPr/>
        </p:nvSpPr>
        <p:spPr>
          <a:xfrm>
            <a:off x="2331720" y="3886200"/>
            <a:ext cx="548640" cy="548640"/>
          </a:xfrm>
          <a:prstGeom prst="rect">
            <a:avLst/>
          </a:prstGeom>
          <a:noFill/>
        </p:spPr>
        <p:txBody>
          <a:bodyPr wrap="square" anchor="t" lIns="45720" rIns="45720">
            <a:spAutoFit/>
          </a:bodyPr>
          <a:lstStyle/>
          <a:p>
            <a:pPr algn="ctr">
              <a:spcAft>
                <a:spcPts val="600"/>
              </a:spcAft>
            </a:pPr>
            <a:r>
              <a:rPr sz="2200" b="1">
                <a:solidFill>
                  <a:srgbClr val="F0C052"/>
                </a:solidFill>
                <a:latin typeface="Manrope"/>
              </a:rPr>
              <a:t>→</a:t>
            </a:r>
          </a:p>
        </p:txBody>
      </p:sp>
      <p:sp>
        <p:nvSpPr>
          <p:cNvPr id="16" name="Rounded Rectangle 15"/>
          <p:cNvSpPr/>
          <p:nvPr/>
        </p:nvSpPr>
        <p:spPr>
          <a:xfrm>
            <a:off x="2834640" y="3931920"/>
            <a:ext cx="1554480" cy="50292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0C052"/>
                </a:solidFill>
                <a:latin typeface="Manrope"/>
              </a:rPr>
              <a:t>Réplicas</a:t>
            </a:r>
          </a:p>
        </p:txBody>
      </p:sp>
      <p:sp>
        <p:nvSpPr>
          <p:cNvPr id="17" name="TextBox 16"/>
          <p:cNvSpPr txBox="1"/>
          <p:nvPr/>
        </p:nvSpPr>
        <p:spPr>
          <a:xfrm>
            <a:off x="914400" y="4434840"/>
            <a:ext cx="5486400" cy="365760"/>
          </a:xfrm>
          <a:prstGeom prst="rect">
            <a:avLst/>
          </a:prstGeom>
          <a:noFill/>
        </p:spPr>
        <p:txBody>
          <a:bodyPr wrap="square" anchor="t" lIns="45720" rIns="45720">
            <a:spAutoFit/>
          </a:bodyPr>
          <a:lstStyle/>
          <a:p>
            <a:pPr algn="l">
              <a:spcAft>
                <a:spcPts val="600"/>
              </a:spcAft>
            </a:pPr>
            <a:r>
              <a:rPr sz="1200" b="0">
                <a:solidFill>
                  <a:srgbClr val="F6EFD9"/>
                </a:solidFill>
                <a:latin typeface="Manrope"/>
              </a:rPr>
              <a:t>Mismo motor, uno escribe y otros leen. Ej: PostgreSQL con réplicas de lectura.</a:t>
            </a:r>
          </a:p>
        </p:txBody>
      </p:sp>
      <p:sp>
        <p:nvSpPr>
          <p:cNvPr id="18" name="Rounded Rectangle 17"/>
          <p:cNvSpPr/>
          <p:nvPr/>
        </p:nvSpPr>
        <p:spPr>
          <a:xfrm>
            <a:off x="731520" y="4937760"/>
            <a:ext cx="5852160" cy="1325880"/>
          </a:xfrm>
          <a:prstGeom prst="roundRect">
            <a:avLst>
              <a:gd name="adj" fmla="val 6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010912"/>
            <a:ext cx="5394960" cy="320040"/>
          </a:xfrm>
          <a:prstGeom prst="rect">
            <a:avLst/>
          </a:prstGeom>
          <a:noFill/>
        </p:spPr>
        <p:txBody>
          <a:bodyPr wrap="square" anchor="t" lIns="45720" rIns="45720">
            <a:spAutoFit/>
          </a:bodyPr>
          <a:lstStyle/>
          <a:p>
            <a:pPr algn="l">
              <a:spcAft>
                <a:spcPts val="600"/>
              </a:spcAft>
            </a:pPr>
            <a:r>
              <a:rPr sz="1500" b="1">
                <a:solidFill>
                  <a:srgbClr val="F0C052"/>
                </a:solidFill>
                <a:latin typeface="Manrope"/>
              </a:rPr>
              <a:t>Nivel 3 · Motores distintos</a:t>
            </a:r>
          </a:p>
        </p:txBody>
      </p:sp>
      <p:sp>
        <p:nvSpPr>
          <p:cNvPr id="20" name="Rounded Rectangle 19"/>
          <p:cNvSpPr/>
          <p:nvPr/>
        </p:nvSpPr>
        <p:spPr>
          <a:xfrm>
            <a:off x="914400" y="5394960"/>
            <a:ext cx="1417320" cy="50292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0C052"/>
                </a:solidFill>
                <a:latin typeface="Manrope"/>
              </a:rPr>
              <a:t>PostgreSQL</a:t>
            </a:r>
          </a:p>
        </p:txBody>
      </p:sp>
      <p:sp>
        <p:nvSpPr>
          <p:cNvPr id="21" name="TextBox 20"/>
          <p:cNvSpPr txBox="1"/>
          <p:nvPr/>
        </p:nvSpPr>
        <p:spPr>
          <a:xfrm>
            <a:off x="2331720" y="5349240"/>
            <a:ext cx="548640" cy="548640"/>
          </a:xfrm>
          <a:prstGeom prst="rect">
            <a:avLst/>
          </a:prstGeom>
          <a:noFill/>
        </p:spPr>
        <p:txBody>
          <a:bodyPr wrap="square" anchor="t" lIns="45720" rIns="45720">
            <a:spAutoFit/>
          </a:bodyPr>
          <a:lstStyle/>
          <a:p>
            <a:pPr algn="ctr">
              <a:spcAft>
                <a:spcPts val="600"/>
              </a:spcAft>
            </a:pPr>
            <a:r>
              <a:rPr sz="2200" b="1">
                <a:solidFill>
                  <a:srgbClr val="F0C052"/>
                </a:solidFill>
                <a:latin typeface="Manrope"/>
              </a:rPr>
              <a:t>→</a:t>
            </a:r>
          </a:p>
        </p:txBody>
      </p:sp>
      <p:sp>
        <p:nvSpPr>
          <p:cNvPr id="22" name="Rounded Rectangle 21"/>
          <p:cNvSpPr/>
          <p:nvPr/>
        </p:nvSpPr>
        <p:spPr>
          <a:xfrm>
            <a:off x="2834640" y="5394960"/>
            <a:ext cx="1554480" cy="50292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0C052"/>
                </a:solidFill>
                <a:latin typeface="Manrope"/>
              </a:rPr>
              <a:t>Elasticsearch</a:t>
            </a:r>
          </a:p>
        </p:txBody>
      </p:sp>
      <p:sp>
        <p:nvSpPr>
          <p:cNvPr id="23" name="TextBox 22"/>
          <p:cNvSpPr txBox="1"/>
          <p:nvPr/>
        </p:nvSpPr>
        <p:spPr>
          <a:xfrm>
            <a:off x="914400" y="5897880"/>
            <a:ext cx="5486400" cy="365760"/>
          </a:xfrm>
          <a:prstGeom prst="rect">
            <a:avLst/>
          </a:prstGeom>
          <a:noFill/>
        </p:spPr>
        <p:txBody>
          <a:bodyPr wrap="square" anchor="t" lIns="45720" rIns="45720">
            <a:spAutoFit/>
          </a:bodyPr>
          <a:lstStyle/>
          <a:p>
            <a:pPr algn="l">
              <a:spcAft>
                <a:spcPts val="600"/>
              </a:spcAft>
            </a:pPr>
            <a:r>
              <a:rPr sz="1200" b="0">
                <a:solidFill>
                  <a:srgbClr val="F6EFD9"/>
                </a:solidFill>
                <a:latin typeface="Manrope"/>
              </a:rPr>
              <a:t>Cada motor para lo suyo. Ej: escribir en PostgreSQL y buscar en Elasticsearch.</a:t>
            </a:r>
          </a:p>
        </p:txBody>
      </p:sp>
      <p:sp>
        <p:nvSpPr>
          <p:cNvPr id="24" name="TextBox 23"/>
          <p:cNvSpPr txBox="1"/>
          <p:nvPr/>
        </p:nvSpPr>
        <p:spPr>
          <a:xfrm>
            <a:off x="6949440" y="1691640"/>
            <a:ext cx="4572000" cy="274320"/>
          </a:xfrm>
          <a:prstGeom prst="rect">
            <a:avLst/>
          </a:prstGeom>
          <a:noFill/>
        </p:spPr>
        <p:txBody>
          <a:bodyPr wrap="square" anchor="t" lIns="45720" rIns="45720">
            <a:spAutoFit/>
          </a:bodyPr>
          <a:lstStyle/>
          <a:p>
            <a:pPr algn="l">
              <a:spcAft>
                <a:spcPts val="600"/>
              </a:spcAft>
            </a:pPr>
            <a:r>
              <a:rPr sz="1200" b="1">
                <a:solidFill>
                  <a:srgbClr val="B9B4A0"/>
                </a:solidFill>
                <a:latin typeface="Manrope"/>
              </a:rPr>
              <a:t>EJEMPLOS DE OTROS MUNDOS</a:t>
            </a:r>
          </a:p>
        </p:txBody>
      </p:sp>
      <p:sp>
        <p:nvSpPr>
          <p:cNvPr id="25" name="Rounded Rectangle 24"/>
          <p:cNvSpPr/>
          <p:nvPr/>
        </p:nvSpPr>
        <p:spPr>
          <a:xfrm>
            <a:off x="6949440" y="2011680"/>
            <a:ext cx="4526280" cy="1325880"/>
          </a:xfrm>
          <a:prstGeom prst="roundRect">
            <a:avLst>
              <a:gd name="adj" fmla="val 6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0" y="2121408"/>
            <a:ext cx="4206240" cy="365760"/>
          </a:xfrm>
          <a:prstGeom prst="rect">
            <a:avLst/>
          </a:prstGeom>
          <a:noFill/>
        </p:spPr>
        <p:txBody>
          <a:bodyPr wrap="square" anchor="t" lIns="45720" rIns="45720">
            <a:spAutoFit/>
          </a:bodyPr>
          <a:lstStyle/>
          <a:p>
            <a:pPr algn="l">
              <a:spcAft>
                <a:spcPts val="600"/>
              </a:spcAft>
            </a:pPr>
            <a:r>
              <a:rPr sz="1600" b="1">
                <a:solidFill>
                  <a:srgbClr val="F0C052"/>
                </a:solidFill>
                <a:latin typeface="Manrope"/>
              </a:rPr>
              <a:t>Buscador de e-commerce</a:t>
            </a:r>
          </a:p>
        </p:txBody>
      </p:sp>
      <p:sp>
        <p:nvSpPr>
          <p:cNvPr id="27" name="TextBox 26"/>
          <p:cNvSpPr txBox="1"/>
          <p:nvPr/>
        </p:nvSpPr>
        <p:spPr>
          <a:xfrm>
            <a:off x="7132320" y="2514600"/>
            <a:ext cx="4206240" cy="822960"/>
          </a:xfrm>
          <a:prstGeom prst="rect">
            <a:avLst/>
          </a:prstGeom>
          <a:noFill/>
        </p:spPr>
        <p:txBody>
          <a:bodyPr wrap="square" anchor="t" lIns="45720" rIns="45720">
            <a:spAutoFit/>
          </a:bodyPr>
          <a:lstStyle/>
          <a:p>
            <a:pPr algn="l">
              <a:spcAft>
                <a:spcPts val="600"/>
              </a:spcAft>
            </a:pPr>
            <a:r>
              <a:rPr sz="1300" b="0">
                <a:solidFill>
                  <a:srgbClr val="F6EFD9"/>
                </a:solidFill>
                <a:latin typeface="Manrope"/>
              </a:rPr>
              <a:t>Se escribe en PostgreSQL y se busca en Elasticsearch. CQRS sin Event Sourcing.</a:t>
            </a:r>
          </a:p>
        </p:txBody>
      </p:sp>
      <p:sp>
        <p:nvSpPr>
          <p:cNvPr id="28" name="Rounded Rectangle 27"/>
          <p:cNvSpPr/>
          <p:nvPr/>
        </p:nvSpPr>
        <p:spPr>
          <a:xfrm>
            <a:off x="6949440" y="3474720"/>
            <a:ext cx="4526280" cy="1325880"/>
          </a:xfrm>
          <a:prstGeom prst="roundRect">
            <a:avLst>
              <a:gd name="adj" fmla="val 6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0" y="3584448"/>
            <a:ext cx="4206240" cy="365760"/>
          </a:xfrm>
          <a:prstGeom prst="rect">
            <a:avLst/>
          </a:prstGeom>
          <a:noFill/>
        </p:spPr>
        <p:txBody>
          <a:bodyPr wrap="square" anchor="t" lIns="45720" rIns="45720">
            <a:spAutoFit/>
          </a:bodyPr>
          <a:lstStyle/>
          <a:p>
            <a:pPr algn="l">
              <a:spcAft>
                <a:spcPts val="600"/>
              </a:spcAft>
            </a:pPr>
            <a:r>
              <a:rPr sz="1600" b="1">
                <a:solidFill>
                  <a:srgbClr val="F0C052"/>
                </a:solidFill>
                <a:latin typeface="Manrope"/>
              </a:rPr>
              <a:t>Red social</a:t>
            </a:r>
          </a:p>
        </p:txBody>
      </p:sp>
      <p:sp>
        <p:nvSpPr>
          <p:cNvPr id="30" name="TextBox 29"/>
          <p:cNvSpPr txBox="1"/>
          <p:nvPr/>
        </p:nvSpPr>
        <p:spPr>
          <a:xfrm>
            <a:off x="7132320" y="3977640"/>
            <a:ext cx="4206240" cy="822960"/>
          </a:xfrm>
          <a:prstGeom prst="rect">
            <a:avLst/>
          </a:prstGeom>
          <a:noFill/>
        </p:spPr>
        <p:txBody>
          <a:bodyPr wrap="square" anchor="t" lIns="45720" rIns="45720">
            <a:spAutoFit/>
          </a:bodyPr>
          <a:lstStyle/>
          <a:p>
            <a:pPr algn="l">
              <a:spcAft>
                <a:spcPts val="600"/>
              </a:spcAft>
            </a:pPr>
            <a:r>
              <a:rPr sz="1300" b="0">
                <a:solidFill>
                  <a:srgbClr val="F6EFD9"/>
                </a:solidFill>
                <a:latin typeface="Manrope"/>
              </a:rPr>
              <a:t>Al publicar, el post se copia a la línea de tiempo de cada seguidor: abrir la app es una sola lectura.</a:t>
            </a:r>
          </a:p>
        </p:txBody>
      </p:sp>
      <p:sp>
        <p:nvSpPr>
          <p:cNvPr id="31" name="Rounded Rectangle 30"/>
          <p:cNvSpPr/>
          <p:nvPr/>
        </p:nvSpPr>
        <p:spPr>
          <a:xfrm>
            <a:off x="6949440" y="4937760"/>
            <a:ext cx="4526280" cy="1325880"/>
          </a:xfrm>
          <a:prstGeom prst="roundRect">
            <a:avLst>
              <a:gd name="adj" fmla="val 6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0" y="5047488"/>
            <a:ext cx="4206240" cy="365760"/>
          </a:xfrm>
          <a:prstGeom prst="rect">
            <a:avLst/>
          </a:prstGeom>
          <a:noFill/>
        </p:spPr>
        <p:txBody>
          <a:bodyPr wrap="square" anchor="t" lIns="45720" rIns="45720">
            <a:spAutoFit/>
          </a:bodyPr>
          <a:lstStyle/>
          <a:p>
            <a:pPr algn="l">
              <a:spcAft>
                <a:spcPts val="600"/>
              </a:spcAft>
            </a:pPr>
            <a:r>
              <a:rPr sz="1600" b="1">
                <a:solidFill>
                  <a:srgbClr val="F0C052"/>
                </a:solidFill>
                <a:latin typeface="Manrope"/>
              </a:rPr>
              <a:t>Reportes de una empresa</a:t>
            </a:r>
          </a:p>
        </p:txBody>
      </p:sp>
      <p:sp>
        <p:nvSpPr>
          <p:cNvPr id="33" name="TextBox 32"/>
          <p:cNvSpPr txBox="1"/>
          <p:nvPr/>
        </p:nvSpPr>
        <p:spPr>
          <a:xfrm>
            <a:off x="7132320" y="5440680"/>
            <a:ext cx="4206240" cy="822960"/>
          </a:xfrm>
          <a:prstGeom prst="rect">
            <a:avLst/>
          </a:prstGeom>
          <a:noFill/>
        </p:spPr>
        <p:txBody>
          <a:bodyPr wrap="square" anchor="t" lIns="45720" rIns="45720">
            <a:spAutoFit/>
          </a:bodyPr>
          <a:lstStyle/>
          <a:p>
            <a:pPr algn="l">
              <a:spcAft>
                <a:spcPts val="600"/>
              </a:spcAft>
            </a:pPr>
            <a:r>
              <a:rPr sz="1300" b="0">
                <a:solidFill>
                  <a:srgbClr val="F6EFD9"/>
                </a:solidFill>
                <a:latin typeface="Manrope"/>
              </a:rPr>
              <a:t>El sistema de ventas escribe y un data warehouse lee, con horas de retraso.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nchor="t" lIns="45720" rIns="45720">
            <a:spAutoFit/>
          </a:bodyPr>
          <a:lstStyle/>
          <a:p>
            <a:pPr algn="l">
              <a:spcAft>
                <a:spcPts val="600"/>
              </a:spcAft>
            </a:pPr>
            <a:r>
              <a:rPr sz="1300" b="1">
                <a:solidFill>
                  <a:srgbClr val="F0C052"/>
                </a:solidFill>
                <a:latin typeface="Manrope"/>
              </a:rPr>
              <a:t>TEMA PRINCIPAL · IDEMPOTENCIA</a:t>
            </a:r>
          </a:p>
        </p:txBody>
      </p:sp>
      <p:sp>
        <p:nvSpPr>
          <p:cNvPr id="3" name="TextBox 2"/>
          <p:cNvSpPr txBox="1"/>
          <p:nvPr/>
        </p:nvSpPr>
        <p:spPr>
          <a:xfrm>
            <a:off x="731520" y="777240"/>
            <a:ext cx="10789920" cy="914400"/>
          </a:xfrm>
          <a:prstGeom prst="rect">
            <a:avLst/>
          </a:prstGeom>
          <a:noFill/>
        </p:spPr>
        <p:txBody>
          <a:bodyPr wrap="square" anchor="t" lIns="45720" rIns="45720">
            <a:spAutoFit/>
          </a:bodyPr>
          <a:lstStyle/>
          <a:p>
            <a:pPr algn="l">
              <a:spcAft>
                <a:spcPts val="600"/>
              </a:spcAft>
            </a:pPr>
            <a:r>
              <a:rPr sz="3800" b="0">
                <a:solidFill>
                  <a:srgbClr val="F6EFD9"/>
                </a:solidFill>
                <a:latin typeface="Anton"/>
              </a:rPr>
              <a:t>Hacerlo varias veces, un solo efecto</a:t>
            </a:r>
          </a:p>
        </p:txBody>
      </p:sp>
      <p:sp>
        <p:nvSpPr>
          <p:cNvPr id="4" name="Rounded Rectangle 3"/>
          <p:cNvSpPr/>
          <p:nvPr/>
        </p:nvSpPr>
        <p:spPr>
          <a:xfrm>
            <a:off x="731520" y="1874519"/>
            <a:ext cx="3429000" cy="310896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79"/>
            <a:ext cx="3063240" cy="411480"/>
          </a:xfrm>
          <a:prstGeom prst="rect">
            <a:avLst/>
          </a:prstGeom>
          <a:noFill/>
        </p:spPr>
        <p:txBody>
          <a:bodyPr wrap="square" anchor="t" lIns="45720" rIns="45720">
            <a:spAutoFit/>
          </a:bodyPr>
          <a:lstStyle/>
          <a:p>
            <a:pPr algn="l">
              <a:spcAft>
                <a:spcPts val="600"/>
              </a:spcAft>
            </a:pPr>
            <a:r>
              <a:rPr sz="1800" b="1">
                <a:solidFill>
                  <a:srgbClr val="7FCF8E"/>
                </a:solidFill>
                <a:latin typeface="Manrope"/>
              </a:rPr>
              <a:t>Ventajas</a:t>
            </a:r>
          </a:p>
        </p:txBody>
      </p:sp>
      <p:sp>
        <p:nvSpPr>
          <p:cNvPr id="6" name="TextBox 5"/>
          <p:cNvSpPr txBox="1"/>
          <p:nvPr/>
        </p:nvSpPr>
        <p:spPr>
          <a:xfrm>
            <a:off x="914400" y="2514600"/>
            <a:ext cx="3063240" cy="2377439"/>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Reintentar es seguro</a:t>
            </a:r>
          </a:p>
          <a:p>
            <a:pPr algn="l">
              <a:spcAft>
                <a:spcPts val="800"/>
              </a:spcAft>
            </a:pPr>
            <a:r>
              <a:rPr sz="1500" b="0">
                <a:solidFill>
                  <a:srgbClr val="F6EFD9"/>
                </a:solidFill>
                <a:latin typeface="Manrope"/>
              </a:rPr>
              <a:t>•  Tolera fallos de red y réplicas</a:t>
            </a:r>
          </a:p>
          <a:p>
            <a:pPr algn="l">
              <a:spcAft>
                <a:spcPts val="800"/>
              </a:spcAft>
            </a:pPr>
            <a:r>
              <a:rPr sz="1500" b="0">
                <a:solidFill>
                  <a:srgbClr val="F6EFD9"/>
                </a:solidFill>
                <a:latin typeface="Manrope"/>
              </a:rPr>
              <a:t>•  Evita duplicados y que se pisen cambios</a:t>
            </a:r>
          </a:p>
        </p:txBody>
      </p:sp>
      <p:sp>
        <p:nvSpPr>
          <p:cNvPr id="7" name="Rounded Rectangle 6"/>
          <p:cNvSpPr/>
          <p:nvPr/>
        </p:nvSpPr>
        <p:spPr>
          <a:xfrm>
            <a:off x="4389120" y="1874519"/>
            <a:ext cx="3429000" cy="310896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011679"/>
            <a:ext cx="3063240" cy="411480"/>
          </a:xfrm>
          <a:prstGeom prst="rect">
            <a:avLst/>
          </a:prstGeom>
          <a:noFill/>
        </p:spPr>
        <p:txBody>
          <a:bodyPr wrap="square" anchor="t" lIns="45720" rIns="45720">
            <a:spAutoFit/>
          </a:bodyPr>
          <a:lstStyle/>
          <a:p>
            <a:pPr algn="l">
              <a:spcAft>
                <a:spcPts val="600"/>
              </a:spcAft>
            </a:pPr>
            <a:r>
              <a:rPr sz="1800" b="1">
                <a:solidFill>
                  <a:srgbClr val="EE8A7D"/>
                </a:solidFill>
                <a:latin typeface="Manrope"/>
              </a:rPr>
              <a:t>Desventajas</a:t>
            </a:r>
          </a:p>
        </p:txBody>
      </p:sp>
      <p:sp>
        <p:nvSpPr>
          <p:cNvPr id="9" name="TextBox 8"/>
          <p:cNvSpPr txBox="1"/>
          <p:nvPr/>
        </p:nvSpPr>
        <p:spPr>
          <a:xfrm>
            <a:off x="4572000" y="2514600"/>
            <a:ext cx="3063240" cy="2377439"/>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Hay que guardar keys y respuestas, con vencimiento</a:t>
            </a:r>
          </a:p>
          <a:p>
            <a:pPr algn="l">
              <a:spcAft>
                <a:spcPts val="800"/>
              </a:spcAft>
            </a:pPr>
            <a:r>
              <a:rPr sz="1500" b="0">
                <a:solidFill>
                  <a:srgbClr val="F6EFD9"/>
                </a:solidFill>
                <a:latin typeface="Manrope"/>
              </a:rPr>
              <a:t>•  El cliente tiene que generar y reutilizar la key</a:t>
            </a:r>
          </a:p>
          <a:p>
            <a:pPr algn="l">
              <a:spcAft>
                <a:spcPts val="800"/>
              </a:spcAft>
            </a:pPr>
            <a:r>
              <a:rPr sz="1500" b="0">
                <a:solidFill>
                  <a:srgbClr val="F6EFD9"/>
                </a:solidFill>
                <a:latin typeface="Manrope"/>
              </a:rPr>
              <a:t>•  Más lógica en el servidor</a:t>
            </a:r>
          </a:p>
        </p:txBody>
      </p:sp>
      <p:sp>
        <p:nvSpPr>
          <p:cNvPr id="10" name="Rounded Rectangle 9"/>
          <p:cNvSpPr/>
          <p:nvPr/>
        </p:nvSpPr>
        <p:spPr>
          <a:xfrm>
            <a:off x="8046720" y="1874519"/>
            <a:ext cx="3429000" cy="310896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011679"/>
            <a:ext cx="3063240" cy="411480"/>
          </a:xfrm>
          <a:prstGeom prst="rect">
            <a:avLst/>
          </a:prstGeom>
          <a:noFill/>
        </p:spPr>
        <p:txBody>
          <a:bodyPr wrap="square" anchor="t" lIns="45720" rIns="45720">
            <a:spAutoFit/>
          </a:bodyPr>
          <a:lstStyle/>
          <a:p>
            <a:pPr algn="l">
              <a:spcAft>
                <a:spcPts val="600"/>
              </a:spcAft>
            </a:pPr>
            <a:r>
              <a:rPr sz="1800" b="1">
                <a:solidFill>
                  <a:srgbClr val="F0C052"/>
                </a:solidFill>
                <a:latin typeface="Manrope"/>
              </a:rPr>
              <a:t>Cuándo no conviene</a:t>
            </a:r>
          </a:p>
        </p:txBody>
      </p:sp>
      <p:sp>
        <p:nvSpPr>
          <p:cNvPr id="12" name="TextBox 11"/>
          <p:cNvSpPr txBox="1"/>
          <p:nvPr/>
        </p:nvSpPr>
        <p:spPr>
          <a:xfrm>
            <a:off x="8229600" y="2514600"/>
            <a:ext cx="3063240" cy="2377439"/>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Operaciones que ya son idempotentes: consultas, o poner el marcador en 2-1</a:t>
            </a:r>
          </a:p>
          <a:p>
            <a:pPr algn="l">
              <a:spcAft>
                <a:spcPts val="800"/>
              </a:spcAft>
            </a:pPr>
            <a:r>
              <a:rPr sz="1500" b="0">
                <a:solidFill>
                  <a:srgbClr val="F6EFD9"/>
                </a:solidFill>
                <a:latin typeface="Manrope"/>
              </a:rPr>
              <a:t>•  Datos descartables donde un duplicado no importa</a:t>
            </a:r>
          </a:p>
        </p:txBody>
      </p:sp>
      <p:sp>
        <p:nvSpPr>
          <p:cNvPr id="13" name="Rounded Rectangle 12"/>
          <p:cNvSpPr/>
          <p:nvPr/>
        </p:nvSpPr>
        <p:spPr>
          <a:xfrm>
            <a:off x="731520" y="5212080"/>
            <a:ext cx="10744200" cy="1234440"/>
          </a:xfrm>
          <a:prstGeom prst="roundRect">
            <a:avLst>
              <a:gd name="adj" fmla="val 8000"/>
            </a:avLst>
          </a:prstGeom>
          <a:solidFill>
            <a:srgbClr val="1F2B25"/>
          </a:solidFill>
          <a:ln w="19050">
            <a:solidFill>
              <a:srgbClr val="2C6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03520"/>
            <a:ext cx="1737360" cy="365760"/>
          </a:xfrm>
          <a:prstGeom prst="rect">
            <a:avLst/>
          </a:prstGeom>
          <a:noFill/>
        </p:spPr>
        <p:txBody>
          <a:bodyPr wrap="square" anchor="t" lIns="45720" rIns="45720">
            <a:spAutoFit/>
          </a:bodyPr>
          <a:lstStyle/>
          <a:p>
            <a:pPr algn="l">
              <a:spcAft>
                <a:spcPts val="600"/>
              </a:spcAft>
            </a:pPr>
            <a:r>
              <a:rPr sz="1200" b="1">
                <a:solidFill>
                  <a:srgbClr val="F0C052"/>
                </a:solidFill>
                <a:latin typeface="Manrope"/>
              </a:rPr>
              <a:t>EN FUTGO</a:t>
            </a:r>
          </a:p>
        </p:txBody>
      </p:sp>
      <p:sp>
        <p:nvSpPr>
          <p:cNvPr id="15" name="TextBox 14"/>
          <p:cNvSpPr txBox="1"/>
          <p:nvPr/>
        </p:nvSpPr>
        <p:spPr>
          <a:xfrm>
            <a:off x="914400" y="5596128"/>
            <a:ext cx="5029200" cy="822960"/>
          </a:xfrm>
          <a:prstGeom prst="rect">
            <a:avLst/>
          </a:prstGeom>
          <a:noFill/>
        </p:spPr>
        <p:txBody>
          <a:bodyPr wrap="square" anchor="t" lIns="45720" rIns="45720">
            <a:spAutoFit/>
          </a:bodyPr>
          <a:lstStyle/>
          <a:p>
            <a:pPr algn="l">
              <a:spcAft>
                <a:spcPts val="600"/>
              </a:spcAft>
            </a:pPr>
            <a:r>
              <a:rPr sz="1500" b="0">
                <a:solidFill>
                  <a:srgbClr val="F6EFD9"/>
                </a:solidFill>
                <a:latin typeface="Manrope"/>
              </a:rPr>
              <a:t>Un doble click en Gol cuenta una sola vez. La key frena el mismo intento; la versión frena otra acción sobre un estado viejo.</a:t>
            </a:r>
          </a:p>
        </p:txBody>
      </p:sp>
      <p:sp>
        <p:nvSpPr>
          <p:cNvPr id="16" name="TextBox 15"/>
          <p:cNvSpPr txBox="1"/>
          <p:nvPr/>
        </p:nvSpPr>
        <p:spPr>
          <a:xfrm>
            <a:off x="6309360" y="5303520"/>
            <a:ext cx="1828800" cy="365760"/>
          </a:xfrm>
          <a:prstGeom prst="rect">
            <a:avLst/>
          </a:prstGeom>
          <a:noFill/>
        </p:spPr>
        <p:txBody>
          <a:bodyPr wrap="square" anchor="t" lIns="45720" rIns="45720">
            <a:spAutoFit/>
          </a:bodyPr>
          <a:lstStyle/>
          <a:p>
            <a:pPr algn="l">
              <a:spcAft>
                <a:spcPts val="600"/>
              </a:spcAft>
            </a:pPr>
            <a:r>
              <a:rPr sz="1200" b="1">
                <a:solidFill>
                  <a:srgbClr val="F0C052"/>
                </a:solidFill>
                <a:latin typeface="Manrope"/>
              </a:rPr>
              <a:t>CONTRAEJEMPLO</a:t>
            </a:r>
          </a:p>
        </p:txBody>
      </p:sp>
      <p:sp>
        <p:nvSpPr>
          <p:cNvPr id="17" name="TextBox 16"/>
          <p:cNvSpPr txBox="1"/>
          <p:nvPr/>
        </p:nvSpPr>
        <p:spPr>
          <a:xfrm>
            <a:off x="6309360" y="5596128"/>
            <a:ext cx="5029200" cy="822960"/>
          </a:xfrm>
          <a:prstGeom prst="rect">
            <a:avLst/>
          </a:prstGeom>
          <a:noFill/>
        </p:spPr>
        <p:txBody>
          <a:bodyPr wrap="square" anchor="t" lIns="45720" rIns="45720">
            <a:spAutoFit/>
          </a:bodyPr>
          <a:lstStyle/>
          <a:p>
            <a:pPr algn="l">
              <a:spcAft>
                <a:spcPts val="600"/>
              </a:spcAft>
            </a:pPr>
            <a:r>
              <a:rPr sz="1500" b="0">
                <a:solidFill>
                  <a:srgbClr val="F6EFD9"/>
                </a:solidFill>
                <a:latin typeface="Manrope"/>
              </a:rPr>
              <a:t>GET /standings ya es idempotente: no necesita key.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nchor="t" lIns="45720" rIns="45720">
            <a:spAutoFit/>
          </a:bodyPr>
          <a:lstStyle/>
          <a:p>
            <a:pPr algn="l">
              <a:spcAft>
                <a:spcPts val="600"/>
              </a:spcAft>
            </a:pPr>
            <a:r>
              <a:rPr sz="1300" b="1">
                <a:solidFill>
                  <a:srgbClr val="F0C052"/>
                </a:solidFill>
                <a:latin typeface="Manrope"/>
              </a:rPr>
              <a:t>TEMA PRINCIPAL · IDEMPOTENCIA</a:t>
            </a:r>
          </a:p>
        </p:txBody>
      </p:sp>
      <p:sp>
        <p:nvSpPr>
          <p:cNvPr id="3" name="TextBox 2"/>
          <p:cNvSpPr txBox="1"/>
          <p:nvPr/>
        </p:nvSpPr>
        <p:spPr>
          <a:xfrm>
            <a:off x="731520" y="777240"/>
            <a:ext cx="10789920" cy="914400"/>
          </a:xfrm>
          <a:prstGeom prst="rect">
            <a:avLst/>
          </a:prstGeom>
          <a:noFill/>
        </p:spPr>
        <p:txBody>
          <a:bodyPr wrap="square" anchor="t" lIns="45720" rIns="45720">
            <a:spAutoFit/>
          </a:bodyPr>
          <a:lstStyle/>
          <a:p>
            <a:pPr algn="l">
              <a:spcAft>
                <a:spcPts val="600"/>
              </a:spcAft>
            </a:pPr>
            <a:r>
              <a:rPr sz="3800" b="0">
                <a:solidFill>
                  <a:srgbClr val="F6EFD9"/>
                </a:solidFill>
                <a:latin typeface="Anton"/>
              </a:rPr>
              <a:t>Mecanismos y ejemplos</a:t>
            </a:r>
          </a:p>
        </p:txBody>
      </p:sp>
      <p:sp>
        <p:nvSpPr>
          <p:cNvPr id="4" name="Rounded Rectangle 3"/>
          <p:cNvSpPr/>
          <p:nvPr/>
        </p:nvSpPr>
        <p:spPr>
          <a:xfrm>
            <a:off x="731520" y="1828800"/>
            <a:ext cx="3429000" cy="2148840"/>
          </a:xfrm>
          <a:prstGeom prst="roundRect">
            <a:avLst>
              <a:gd name="adj" fmla="val 6000"/>
            </a:avLst>
          </a:prstGeom>
          <a:solidFill>
            <a:srgbClr val="1F2B25"/>
          </a:solidFill>
          <a:ln w="19050">
            <a:solidFill>
              <a:srgbClr val="F0C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38528"/>
            <a:ext cx="3108960" cy="548640"/>
          </a:xfrm>
          <a:prstGeom prst="rect">
            <a:avLst/>
          </a:prstGeom>
          <a:noFill/>
        </p:spPr>
        <p:txBody>
          <a:bodyPr wrap="square" anchor="t" lIns="45720" rIns="45720">
            <a:spAutoFit/>
          </a:bodyPr>
          <a:lstStyle/>
          <a:p>
            <a:pPr algn="l">
              <a:spcAft>
                <a:spcPts val="600"/>
              </a:spcAft>
            </a:pPr>
            <a:r>
              <a:rPr sz="1600" b="1">
                <a:solidFill>
                  <a:srgbClr val="F0C052"/>
                </a:solidFill>
                <a:latin typeface="Manrope"/>
              </a:rPr>
              <a:t>Idempotency key</a:t>
            </a:r>
          </a:p>
        </p:txBody>
      </p:sp>
      <p:sp>
        <p:nvSpPr>
          <p:cNvPr id="6" name="TextBox 5"/>
          <p:cNvSpPr txBox="1"/>
          <p:nvPr/>
        </p:nvSpPr>
        <p:spPr>
          <a:xfrm>
            <a:off x="914400" y="2514600"/>
            <a:ext cx="3108960" cy="731520"/>
          </a:xfrm>
          <a:prstGeom prst="rect">
            <a:avLst/>
          </a:prstGeom>
          <a:noFill/>
        </p:spPr>
        <p:txBody>
          <a:bodyPr wrap="square" anchor="t" lIns="45720" rIns="45720">
            <a:spAutoFit/>
          </a:bodyPr>
          <a:lstStyle/>
          <a:p>
            <a:pPr algn="l">
              <a:spcAft>
                <a:spcPts val="600"/>
              </a:spcAft>
            </a:pPr>
            <a:r>
              <a:rPr sz="1300" b="0">
                <a:solidFill>
                  <a:srgbClr val="F6EFD9"/>
                </a:solidFill>
                <a:latin typeface="Manrope"/>
              </a:rPr>
              <a:t>El cliente le pone un ID a cada acción; si se repite, se devuelve lo guardado.</a:t>
            </a:r>
          </a:p>
        </p:txBody>
      </p:sp>
      <p:sp>
        <p:nvSpPr>
          <p:cNvPr id="7" name="TextBox 6"/>
          <p:cNvSpPr txBox="1"/>
          <p:nvPr/>
        </p:nvSpPr>
        <p:spPr>
          <a:xfrm>
            <a:off x="914400" y="3200400"/>
            <a:ext cx="3108960" cy="731520"/>
          </a:xfrm>
          <a:prstGeom prst="rect">
            <a:avLst/>
          </a:prstGeom>
          <a:noFill/>
        </p:spPr>
        <p:txBody>
          <a:bodyPr wrap="square" anchor="t" lIns="45720" rIns="45720">
            <a:spAutoFit/>
          </a:bodyPr>
          <a:lstStyle/>
          <a:p>
            <a:pPr algn="l">
              <a:spcAft>
                <a:spcPts val="600"/>
              </a:spcAft>
            </a:pPr>
            <a:r>
              <a:rPr sz="1200" b="0">
                <a:solidFill>
                  <a:srgbClr val="B9B4A0"/>
                </a:solidFill>
                <a:latin typeface="Manrope"/>
              </a:rPr>
              <a:t>Ej: Un cobro con tarjeta: reintentar no cobra dos veces.</a:t>
            </a:r>
          </a:p>
        </p:txBody>
      </p:sp>
      <p:sp>
        <p:nvSpPr>
          <p:cNvPr id="8" name="Rounded Rectangle 7"/>
          <p:cNvSpPr/>
          <p:nvPr/>
        </p:nvSpPr>
        <p:spPr>
          <a:xfrm>
            <a:off x="3063239" y="1938528"/>
            <a:ext cx="960120" cy="310896"/>
          </a:xfrm>
          <a:prstGeom prst="roundRect">
            <a:avLst>
              <a:gd name="adj" fmla="val 50000"/>
            </a:avLst>
          </a:prstGeom>
          <a:solidFill>
            <a:srgbClr val="F0C05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1A1204"/>
                </a:solidFill>
                <a:latin typeface="Manrope"/>
              </a:rPr>
              <a:t>EN FUTGO</a:t>
            </a:r>
          </a:p>
        </p:txBody>
      </p:sp>
      <p:sp>
        <p:nvSpPr>
          <p:cNvPr id="9" name="Rounded Rectangle 8"/>
          <p:cNvSpPr/>
          <p:nvPr/>
        </p:nvSpPr>
        <p:spPr>
          <a:xfrm>
            <a:off x="4389120" y="1828800"/>
            <a:ext cx="3429000" cy="2148840"/>
          </a:xfrm>
          <a:prstGeom prst="roundRect">
            <a:avLst>
              <a:gd name="adj" fmla="val 6000"/>
            </a:avLst>
          </a:prstGeom>
          <a:solidFill>
            <a:srgbClr val="1F2B25"/>
          </a:solidFill>
          <a:ln w="19050">
            <a:solidFill>
              <a:srgbClr val="F0C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938528"/>
            <a:ext cx="3108960" cy="548640"/>
          </a:xfrm>
          <a:prstGeom prst="rect">
            <a:avLst/>
          </a:prstGeom>
          <a:noFill/>
        </p:spPr>
        <p:txBody>
          <a:bodyPr wrap="square" anchor="t" lIns="45720" rIns="45720">
            <a:spAutoFit/>
          </a:bodyPr>
          <a:lstStyle/>
          <a:p>
            <a:pPr algn="l">
              <a:spcAft>
                <a:spcPts val="600"/>
              </a:spcAft>
            </a:pPr>
            <a:r>
              <a:rPr sz="1600" b="1">
                <a:solidFill>
                  <a:srgbClr val="F0C052"/>
                </a:solidFill>
                <a:latin typeface="Manrope"/>
              </a:rPr>
              <a:t>Versión esperada</a:t>
            </a:r>
          </a:p>
        </p:txBody>
      </p:sp>
      <p:sp>
        <p:nvSpPr>
          <p:cNvPr id="11" name="TextBox 10"/>
          <p:cNvSpPr txBox="1"/>
          <p:nvPr/>
        </p:nvSpPr>
        <p:spPr>
          <a:xfrm>
            <a:off x="4572000" y="2514600"/>
            <a:ext cx="3108960" cy="731520"/>
          </a:xfrm>
          <a:prstGeom prst="rect">
            <a:avLst/>
          </a:prstGeom>
          <a:noFill/>
        </p:spPr>
        <p:txBody>
          <a:bodyPr wrap="square" anchor="t" lIns="45720" rIns="45720">
            <a:spAutoFit/>
          </a:bodyPr>
          <a:lstStyle/>
          <a:p>
            <a:pPr algn="l">
              <a:spcAft>
                <a:spcPts val="600"/>
              </a:spcAft>
            </a:pPr>
            <a:r>
              <a:rPr sz="1300" b="0">
                <a:solidFill>
                  <a:srgbClr val="F6EFD9"/>
                </a:solidFill>
                <a:latin typeface="Manrope"/>
              </a:rPr>
              <a:t>Se manda la versión que se vio; si ya cambió, se rechaza.</a:t>
            </a:r>
          </a:p>
        </p:txBody>
      </p:sp>
      <p:sp>
        <p:nvSpPr>
          <p:cNvPr id="12" name="TextBox 11"/>
          <p:cNvSpPr txBox="1"/>
          <p:nvPr/>
        </p:nvSpPr>
        <p:spPr>
          <a:xfrm>
            <a:off x="4572000" y="3200400"/>
            <a:ext cx="3108960" cy="731520"/>
          </a:xfrm>
          <a:prstGeom prst="rect">
            <a:avLst/>
          </a:prstGeom>
          <a:noFill/>
        </p:spPr>
        <p:txBody>
          <a:bodyPr wrap="square" anchor="t" lIns="45720" rIns="45720">
            <a:spAutoFit/>
          </a:bodyPr>
          <a:lstStyle/>
          <a:p>
            <a:pPr algn="l">
              <a:spcAft>
                <a:spcPts val="600"/>
              </a:spcAft>
            </a:pPr>
            <a:r>
              <a:rPr sz="1200" b="0">
                <a:solidFill>
                  <a:srgbClr val="B9B4A0"/>
                </a:solidFill>
                <a:latin typeface="Manrope"/>
              </a:rPr>
              <a:t>Ej: git push: si alguien subió antes que vos, lo rechaza.</a:t>
            </a:r>
          </a:p>
        </p:txBody>
      </p:sp>
      <p:sp>
        <p:nvSpPr>
          <p:cNvPr id="13" name="Rounded Rectangle 12"/>
          <p:cNvSpPr/>
          <p:nvPr/>
        </p:nvSpPr>
        <p:spPr>
          <a:xfrm>
            <a:off x="6720840" y="1938528"/>
            <a:ext cx="960120" cy="310896"/>
          </a:xfrm>
          <a:prstGeom prst="roundRect">
            <a:avLst>
              <a:gd name="adj" fmla="val 50000"/>
            </a:avLst>
          </a:prstGeom>
          <a:solidFill>
            <a:srgbClr val="F0C05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1A1204"/>
                </a:solidFill>
                <a:latin typeface="Manrope"/>
              </a:rPr>
              <a:t>EN FUTGO</a:t>
            </a:r>
          </a:p>
        </p:txBody>
      </p:sp>
      <p:sp>
        <p:nvSpPr>
          <p:cNvPr id="14" name="Rounded Rectangle 13"/>
          <p:cNvSpPr/>
          <p:nvPr/>
        </p:nvSpPr>
        <p:spPr>
          <a:xfrm>
            <a:off x="8046720" y="1828800"/>
            <a:ext cx="3429000" cy="2148840"/>
          </a:xfrm>
          <a:prstGeom prst="roundRect">
            <a:avLst>
              <a:gd name="adj" fmla="val 6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938528"/>
            <a:ext cx="3108960" cy="548640"/>
          </a:xfrm>
          <a:prstGeom prst="rect">
            <a:avLst/>
          </a:prstGeom>
          <a:noFill/>
        </p:spPr>
        <p:txBody>
          <a:bodyPr wrap="square" anchor="t" lIns="45720" rIns="45720">
            <a:spAutoFit/>
          </a:bodyPr>
          <a:lstStyle/>
          <a:p>
            <a:pPr algn="l">
              <a:spcAft>
                <a:spcPts val="600"/>
              </a:spcAft>
            </a:pPr>
            <a:r>
              <a:rPr sz="1600" b="1">
                <a:solidFill>
                  <a:srgbClr val="F0C052"/>
                </a:solidFill>
                <a:latin typeface="Manrope"/>
              </a:rPr>
              <a:t>Operación idempotente por diseño</a:t>
            </a:r>
          </a:p>
        </p:txBody>
      </p:sp>
      <p:sp>
        <p:nvSpPr>
          <p:cNvPr id="16" name="TextBox 15"/>
          <p:cNvSpPr txBox="1"/>
          <p:nvPr/>
        </p:nvSpPr>
        <p:spPr>
          <a:xfrm>
            <a:off x="8229600" y="2514600"/>
            <a:ext cx="3108960" cy="731520"/>
          </a:xfrm>
          <a:prstGeom prst="rect">
            <a:avLst/>
          </a:prstGeom>
          <a:noFill/>
        </p:spPr>
        <p:txBody>
          <a:bodyPr wrap="square" anchor="t" lIns="45720" rIns="45720">
            <a:spAutoFit/>
          </a:bodyPr>
          <a:lstStyle/>
          <a:p>
            <a:pPr algn="l">
              <a:spcAft>
                <a:spcPts val="600"/>
              </a:spcAft>
            </a:pPr>
            <a:r>
              <a:rPr sz="1300" b="0">
                <a:solidFill>
                  <a:srgbClr val="F6EFD9"/>
                </a:solidFill>
                <a:latin typeface="Manrope"/>
              </a:rPr>
              <a:t>Se diseña para que repetirla no cambie nada.</a:t>
            </a:r>
          </a:p>
        </p:txBody>
      </p:sp>
      <p:sp>
        <p:nvSpPr>
          <p:cNvPr id="17" name="TextBox 16"/>
          <p:cNvSpPr txBox="1"/>
          <p:nvPr/>
        </p:nvSpPr>
        <p:spPr>
          <a:xfrm>
            <a:off x="8229600" y="3200400"/>
            <a:ext cx="3108960" cy="731520"/>
          </a:xfrm>
          <a:prstGeom prst="rect">
            <a:avLst/>
          </a:prstGeom>
          <a:noFill/>
        </p:spPr>
        <p:txBody>
          <a:bodyPr wrap="square" anchor="t" lIns="45720" rIns="45720">
            <a:spAutoFit/>
          </a:bodyPr>
          <a:lstStyle/>
          <a:p>
            <a:pPr algn="l">
              <a:spcAft>
                <a:spcPts val="600"/>
              </a:spcAft>
            </a:pPr>
            <a:r>
              <a:rPr sz="1200" b="0">
                <a:solidFill>
                  <a:srgbClr val="B9B4A0"/>
                </a:solidFill>
                <a:latin typeface="Manrope"/>
              </a:rPr>
              <a:t>Ej: «Poner el estado en enviado» en vez de «sumar uno» a un contador.</a:t>
            </a:r>
          </a:p>
        </p:txBody>
      </p:sp>
      <p:sp>
        <p:nvSpPr>
          <p:cNvPr id="18" name="Rounded Rectangle 17"/>
          <p:cNvSpPr/>
          <p:nvPr/>
        </p:nvSpPr>
        <p:spPr>
          <a:xfrm>
            <a:off x="731520" y="4160520"/>
            <a:ext cx="3429000" cy="2148840"/>
          </a:xfrm>
          <a:prstGeom prst="roundRect">
            <a:avLst>
              <a:gd name="adj" fmla="val 6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70248"/>
            <a:ext cx="3108960" cy="548640"/>
          </a:xfrm>
          <a:prstGeom prst="rect">
            <a:avLst/>
          </a:prstGeom>
          <a:noFill/>
        </p:spPr>
        <p:txBody>
          <a:bodyPr wrap="square" anchor="t" lIns="45720" rIns="45720">
            <a:spAutoFit/>
          </a:bodyPr>
          <a:lstStyle/>
          <a:p>
            <a:pPr algn="l">
              <a:spcAft>
                <a:spcPts val="600"/>
              </a:spcAft>
            </a:pPr>
            <a:r>
              <a:rPr sz="1600" b="1">
                <a:solidFill>
                  <a:srgbClr val="F0C052"/>
                </a:solidFill>
                <a:latin typeface="Manrope"/>
              </a:rPr>
              <a:t>Restricción de unicidad</a:t>
            </a:r>
          </a:p>
        </p:txBody>
      </p:sp>
      <p:sp>
        <p:nvSpPr>
          <p:cNvPr id="20" name="TextBox 19"/>
          <p:cNvSpPr txBox="1"/>
          <p:nvPr/>
        </p:nvSpPr>
        <p:spPr>
          <a:xfrm>
            <a:off x="914400" y="4846320"/>
            <a:ext cx="3108960" cy="731520"/>
          </a:xfrm>
          <a:prstGeom prst="rect">
            <a:avLst/>
          </a:prstGeom>
          <a:noFill/>
        </p:spPr>
        <p:txBody>
          <a:bodyPr wrap="square" anchor="t" lIns="45720" rIns="45720">
            <a:spAutoFit/>
          </a:bodyPr>
          <a:lstStyle/>
          <a:p>
            <a:pPr algn="l">
              <a:spcAft>
                <a:spcPts val="600"/>
              </a:spcAft>
            </a:pPr>
            <a:r>
              <a:rPr sz="1300" b="0">
                <a:solidFill>
                  <a:srgbClr val="F6EFD9"/>
                </a:solidFill>
                <a:latin typeface="Manrope"/>
              </a:rPr>
              <a:t>La base de datos rechaza el duplicado con una clave única.</a:t>
            </a:r>
          </a:p>
        </p:txBody>
      </p:sp>
      <p:sp>
        <p:nvSpPr>
          <p:cNvPr id="21" name="TextBox 20"/>
          <p:cNvSpPr txBox="1"/>
          <p:nvPr/>
        </p:nvSpPr>
        <p:spPr>
          <a:xfrm>
            <a:off x="914400" y="5532120"/>
            <a:ext cx="3108960" cy="731520"/>
          </a:xfrm>
          <a:prstGeom prst="rect">
            <a:avLst/>
          </a:prstGeom>
          <a:noFill/>
        </p:spPr>
        <p:txBody>
          <a:bodyPr wrap="square" anchor="t" lIns="45720" rIns="45720">
            <a:spAutoFit/>
          </a:bodyPr>
          <a:lstStyle/>
          <a:p>
            <a:pPr algn="l">
              <a:spcAft>
                <a:spcPts val="600"/>
              </a:spcAft>
            </a:pPr>
            <a:r>
              <a:rPr sz="1200" b="0">
                <a:solidFill>
                  <a:srgbClr val="B9B4A0"/>
                </a:solidFill>
                <a:latin typeface="Manrope"/>
              </a:rPr>
              <a:t>Ej: Dos facturas con el mismo número: la segunda falla.</a:t>
            </a:r>
          </a:p>
        </p:txBody>
      </p:sp>
      <p:sp>
        <p:nvSpPr>
          <p:cNvPr id="22" name="Rounded Rectangle 21"/>
          <p:cNvSpPr/>
          <p:nvPr/>
        </p:nvSpPr>
        <p:spPr>
          <a:xfrm>
            <a:off x="4389120" y="4160520"/>
            <a:ext cx="3429000" cy="2148840"/>
          </a:xfrm>
          <a:prstGeom prst="roundRect">
            <a:avLst>
              <a:gd name="adj" fmla="val 6000"/>
            </a:avLst>
          </a:prstGeom>
          <a:solidFill>
            <a:srgbClr val="1F2B25"/>
          </a:solidFill>
          <a:ln w="19050">
            <a:solidFill>
              <a:srgbClr val="F0C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4270248"/>
            <a:ext cx="3108960" cy="548640"/>
          </a:xfrm>
          <a:prstGeom prst="rect">
            <a:avLst/>
          </a:prstGeom>
          <a:noFill/>
        </p:spPr>
        <p:txBody>
          <a:bodyPr wrap="square" anchor="t" lIns="45720" rIns="45720">
            <a:spAutoFit/>
          </a:bodyPr>
          <a:lstStyle/>
          <a:p>
            <a:pPr algn="l">
              <a:spcAft>
                <a:spcPts val="600"/>
              </a:spcAft>
            </a:pPr>
            <a:r>
              <a:rPr sz="1600" b="1">
                <a:solidFill>
                  <a:srgbClr val="F0C052"/>
                </a:solidFill>
                <a:latin typeface="Manrope"/>
              </a:rPr>
              <a:t>Consumidor que descarta repetidos</a:t>
            </a:r>
          </a:p>
        </p:txBody>
      </p:sp>
      <p:sp>
        <p:nvSpPr>
          <p:cNvPr id="24" name="TextBox 23"/>
          <p:cNvSpPr txBox="1"/>
          <p:nvPr/>
        </p:nvSpPr>
        <p:spPr>
          <a:xfrm>
            <a:off x="4572000" y="4846320"/>
            <a:ext cx="3108960" cy="731520"/>
          </a:xfrm>
          <a:prstGeom prst="rect">
            <a:avLst/>
          </a:prstGeom>
          <a:noFill/>
        </p:spPr>
        <p:txBody>
          <a:bodyPr wrap="square" anchor="t" lIns="45720" rIns="45720">
            <a:spAutoFit/>
          </a:bodyPr>
          <a:lstStyle/>
          <a:p>
            <a:pPr algn="l">
              <a:spcAft>
                <a:spcPts val="600"/>
              </a:spcAft>
            </a:pPr>
            <a:r>
              <a:rPr sz="1300" b="0">
                <a:solidFill>
                  <a:srgbClr val="F6EFD9"/>
                </a:solidFill>
                <a:latin typeface="Manrope"/>
              </a:rPr>
              <a:t>Se anotan los mensajes ya procesados y se ignoran si llegan de nuevo.</a:t>
            </a:r>
          </a:p>
        </p:txBody>
      </p:sp>
      <p:sp>
        <p:nvSpPr>
          <p:cNvPr id="25" name="TextBox 24"/>
          <p:cNvSpPr txBox="1"/>
          <p:nvPr/>
        </p:nvSpPr>
        <p:spPr>
          <a:xfrm>
            <a:off x="4572000" y="5532120"/>
            <a:ext cx="3108960" cy="731520"/>
          </a:xfrm>
          <a:prstGeom prst="rect">
            <a:avLst/>
          </a:prstGeom>
          <a:noFill/>
        </p:spPr>
        <p:txBody>
          <a:bodyPr wrap="square" anchor="t" lIns="45720" rIns="45720">
            <a:spAutoFit/>
          </a:bodyPr>
          <a:lstStyle/>
          <a:p>
            <a:pPr algn="l">
              <a:spcAft>
                <a:spcPts val="600"/>
              </a:spcAft>
            </a:pPr>
            <a:r>
              <a:rPr sz="1200" b="0">
                <a:solidFill>
                  <a:srgbClr val="B9B4A0"/>
                </a:solidFill>
                <a:latin typeface="Manrope"/>
              </a:rPr>
              <a:t>Ej: Una cola entrega un mensaje dos veces: se aplica una sola.</a:t>
            </a:r>
          </a:p>
        </p:txBody>
      </p:sp>
      <p:sp>
        <p:nvSpPr>
          <p:cNvPr id="26" name="Rounded Rectangle 25"/>
          <p:cNvSpPr/>
          <p:nvPr/>
        </p:nvSpPr>
        <p:spPr>
          <a:xfrm>
            <a:off x="6720840" y="4270248"/>
            <a:ext cx="960120" cy="310896"/>
          </a:xfrm>
          <a:prstGeom prst="roundRect">
            <a:avLst>
              <a:gd name="adj" fmla="val 50000"/>
            </a:avLst>
          </a:prstGeom>
          <a:solidFill>
            <a:srgbClr val="F0C05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1A1204"/>
                </a:solidFill>
                <a:latin typeface="Manrope"/>
              </a:rPr>
              <a:t>EN FUTGO</a:t>
            </a:r>
          </a:p>
        </p:txBody>
      </p:sp>
      <p:sp>
        <p:nvSpPr>
          <p:cNvPr id="27" name="Rounded Rectangle 26"/>
          <p:cNvSpPr/>
          <p:nvPr/>
        </p:nvSpPr>
        <p:spPr>
          <a:xfrm>
            <a:off x="8046720" y="4160520"/>
            <a:ext cx="3429000" cy="2148840"/>
          </a:xfrm>
          <a:prstGeom prst="roundRect">
            <a:avLst>
              <a:gd name="adj" fmla="val 6000"/>
            </a:avLst>
          </a:prstGeom>
          <a:solidFill>
            <a:srgbClr val="2C6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4270248"/>
            <a:ext cx="3108960" cy="365760"/>
          </a:xfrm>
          <a:prstGeom prst="rect">
            <a:avLst/>
          </a:prstGeom>
          <a:noFill/>
        </p:spPr>
        <p:txBody>
          <a:bodyPr wrap="square" anchor="t" lIns="45720" rIns="45720">
            <a:spAutoFit/>
          </a:bodyPr>
          <a:lstStyle/>
          <a:p>
            <a:pPr algn="l">
              <a:spcAft>
                <a:spcPts val="600"/>
              </a:spcAft>
            </a:pPr>
            <a:r>
              <a:rPr sz="1600" b="1">
                <a:solidFill>
                  <a:srgbClr val="F6EFD9"/>
                </a:solidFill>
                <a:latin typeface="Manrope"/>
              </a:rPr>
              <a:t>Se combinan</a:t>
            </a:r>
          </a:p>
        </p:txBody>
      </p:sp>
      <p:sp>
        <p:nvSpPr>
          <p:cNvPr id="29" name="TextBox 28"/>
          <p:cNvSpPr txBox="1"/>
          <p:nvPr/>
        </p:nvSpPr>
        <p:spPr>
          <a:xfrm>
            <a:off x="8229600" y="4709160"/>
            <a:ext cx="3108960" cy="1554480"/>
          </a:xfrm>
          <a:prstGeom prst="rect">
            <a:avLst/>
          </a:prstGeom>
          <a:noFill/>
        </p:spPr>
        <p:txBody>
          <a:bodyPr wrap="square" anchor="t" lIns="45720" rIns="45720">
            <a:spAutoFit/>
          </a:bodyPr>
          <a:lstStyle/>
          <a:p>
            <a:pPr algn="l">
              <a:spcAft>
                <a:spcPts val="600"/>
              </a:spcAft>
            </a:pPr>
            <a:r>
              <a:rPr sz="1300" b="0">
                <a:solidFill>
                  <a:srgbClr val="F6EFD9"/>
                </a:solidFill>
                <a:latin typeface="Manrope"/>
              </a:rPr>
              <a:t>En FutGo usamos tres: la key, la versión y el consumidor que no suma dos veces.</a:t>
            </a:r>
          </a:p>
          <a:p>
            <a:pPr algn="l">
              <a:spcAft>
                <a:spcPts val="600"/>
              </a:spcAft>
            </a:pPr>
            <a:r>
              <a:rPr sz="1300" b="0">
                <a:solidFill>
                  <a:srgbClr val="F6EFD9"/>
                </a:solidFill>
                <a:latin typeface="Manrope"/>
              </a:rPr>
              <a:t>Cada una cubre un hueco distinto.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nchor="t" lIns="45720" rIns="45720">
            <a:spAutoFit/>
          </a:bodyPr>
          <a:lstStyle/>
          <a:p>
            <a:pPr algn="l">
              <a:spcAft>
                <a:spcPts val="600"/>
              </a:spcAft>
            </a:pPr>
            <a:r>
              <a:rPr sz="1300" b="1">
                <a:solidFill>
                  <a:srgbClr val="F0C052"/>
                </a:solidFill>
                <a:latin typeface="Manrope"/>
              </a:rPr>
              <a:t>TEMA PRINCIPAL · IDEMPOTENCIA</a:t>
            </a:r>
          </a:p>
        </p:txBody>
      </p:sp>
      <p:sp>
        <p:nvSpPr>
          <p:cNvPr id="3" name="TextBox 2"/>
          <p:cNvSpPr txBox="1"/>
          <p:nvPr/>
        </p:nvSpPr>
        <p:spPr>
          <a:xfrm>
            <a:off x="731520" y="777240"/>
            <a:ext cx="10789920" cy="914400"/>
          </a:xfrm>
          <a:prstGeom prst="rect">
            <a:avLst/>
          </a:prstGeom>
          <a:noFill/>
        </p:spPr>
        <p:txBody>
          <a:bodyPr wrap="square" anchor="t" lIns="45720" rIns="45720">
            <a:spAutoFit/>
          </a:bodyPr>
          <a:lstStyle/>
          <a:p>
            <a:pPr algn="l">
              <a:spcAft>
                <a:spcPts val="600"/>
              </a:spcAft>
            </a:pPr>
            <a:r>
              <a:rPr sz="3800" b="0">
                <a:solidFill>
                  <a:srgbClr val="F6EFD9"/>
                </a:solidFill>
                <a:latin typeface="Anton"/>
              </a:rPr>
              <a:t>Idempotencia y deduplicación</a:t>
            </a:r>
          </a:p>
        </p:txBody>
      </p:sp>
      <p:sp>
        <p:nvSpPr>
          <p:cNvPr id="4" name="Rounded Rectangle 3"/>
          <p:cNvSpPr/>
          <p:nvPr/>
        </p:nvSpPr>
        <p:spPr>
          <a:xfrm>
            <a:off x="731520" y="1783080"/>
            <a:ext cx="5257800" cy="1234440"/>
          </a:xfrm>
          <a:prstGeom prst="roundRect">
            <a:avLst>
              <a:gd name="adj" fmla="val 6000"/>
            </a:avLst>
          </a:prstGeom>
          <a:solidFill>
            <a:srgbClr val="1F2B25"/>
          </a:solidFill>
          <a:ln w="19050">
            <a:solidFill>
              <a:srgbClr val="F0C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4937760" cy="365760"/>
          </a:xfrm>
          <a:prstGeom prst="rect">
            <a:avLst/>
          </a:prstGeom>
          <a:noFill/>
        </p:spPr>
        <p:txBody>
          <a:bodyPr wrap="square" anchor="t" lIns="45720" rIns="45720">
            <a:spAutoFit/>
          </a:bodyPr>
          <a:lstStyle/>
          <a:p>
            <a:pPr algn="l">
              <a:spcAft>
                <a:spcPts val="600"/>
              </a:spcAft>
            </a:pPr>
            <a:r>
              <a:rPr sz="1800" b="1">
                <a:solidFill>
                  <a:srgbClr val="F0C052"/>
                </a:solidFill>
                <a:latin typeface="Manrope"/>
              </a:rPr>
              <a:t>Idempotencia · el objetivo</a:t>
            </a:r>
          </a:p>
        </p:txBody>
      </p:sp>
      <p:sp>
        <p:nvSpPr>
          <p:cNvPr id="6" name="TextBox 5"/>
          <p:cNvSpPr txBox="1"/>
          <p:nvPr/>
        </p:nvSpPr>
        <p:spPr>
          <a:xfrm>
            <a:off x="914400" y="2286000"/>
            <a:ext cx="4937760" cy="731520"/>
          </a:xfrm>
          <a:prstGeom prst="rect">
            <a:avLst/>
          </a:prstGeom>
          <a:noFill/>
        </p:spPr>
        <p:txBody>
          <a:bodyPr wrap="square" anchor="t" lIns="45720" rIns="45720">
            <a:spAutoFit/>
          </a:bodyPr>
          <a:lstStyle/>
          <a:p>
            <a:pPr algn="l">
              <a:spcAft>
                <a:spcPts val="600"/>
              </a:spcAft>
            </a:pPr>
            <a:r>
              <a:rPr sz="1500" b="0">
                <a:solidFill>
                  <a:srgbClr val="F6EFD9"/>
                </a:solidFill>
                <a:latin typeface="Manrope"/>
              </a:rPr>
              <a:t>Repetir una operación deja el mismo resultado final.</a:t>
            </a:r>
          </a:p>
        </p:txBody>
      </p:sp>
      <p:sp>
        <p:nvSpPr>
          <p:cNvPr id="7" name="Rounded Rectangle 6"/>
          <p:cNvSpPr/>
          <p:nvPr/>
        </p:nvSpPr>
        <p:spPr>
          <a:xfrm>
            <a:off x="6217920" y="1783080"/>
            <a:ext cx="5257800" cy="1234440"/>
          </a:xfrm>
          <a:prstGeom prst="roundRect">
            <a:avLst>
              <a:gd name="adj" fmla="val 6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74519"/>
            <a:ext cx="4937760" cy="365760"/>
          </a:xfrm>
          <a:prstGeom prst="rect">
            <a:avLst/>
          </a:prstGeom>
          <a:noFill/>
        </p:spPr>
        <p:txBody>
          <a:bodyPr wrap="square" anchor="t" lIns="45720" rIns="45720">
            <a:spAutoFit/>
          </a:bodyPr>
          <a:lstStyle/>
          <a:p>
            <a:pPr algn="l">
              <a:spcAft>
                <a:spcPts val="600"/>
              </a:spcAft>
            </a:pPr>
            <a:r>
              <a:rPr sz="1800" b="1">
                <a:solidFill>
                  <a:srgbClr val="F0C052"/>
                </a:solidFill>
                <a:latin typeface="Manrope"/>
              </a:rPr>
              <a:t>Deduplicación · una técnica</a:t>
            </a:r>
          </a:p>
        </p:txBody>
      </p:sp>
      <p:sp>
        <p:nvSpPr>
          <p:cNvPr id="9" name="TextBox 8"/>
          <p:cNvSpPr txBox="1"/>
          <p:nvPr/>
        </p:nvSpPr>
        <p:spPr>
          <a:xfrm>
            <a:off x="6400800" y="2286000"/>
            <a:ext cx="4937760" cy="731520"/>
          </a:xfrm>
          <a:prstGeom prst="rect">
            <a:avLst/>
          </a:prstGeom>
          <a:noFill/>
        </p:spPr>
        <p:txBody>
          <a:bodyPr wrap="square" anchor="t" lIns="45720" rIns="45720">
            <a:spAutoFit/>
          </a:bodyPr>
          <a:lstStyle/>
          <a:p>
            <a:pPr algn="l">
              <a:spcAft>
                <a:spcPts val="600"/>
              </a:spcAft>
            </a:pPr>
            <a:r>
              <a:rPr sz="1500" b="0">
                <a:solidFill>
                  <a:srgbClr val="F6EFD9"/>
                </a:solidFill>
                <a:latin typeface="Manrope"/>
              </a:rPr>
              <a:t>Detectar lo repetido y descartarlo, recordando lo ya procesado.</a:t>
            </a:r>
          </a:p>
        </p:txBody>
      </p:sp>
      <p:sp>
        <p:nvSpPr>
          <p:cNvPr id="10" name="TextBox 9"/>
          <p:cNvSpPr txBox="1"/>
          <p:nvPr/>
        </p:nvSpPr>
        <p:spPr>
          <a:xfrm>
            <a:off x="731520" y="3200400"/>
            <a:ext cx="7315200" cy="274320"/>
          </a:xfrm>
          <a:prstGeom prst="rect">
            <a:avLst/>
          </a:prstGeom>
          <a:noFill/>
        </p:spPr>
        <p:txBody>
          <a:bodyPr wrap="square" anchor="t" lIns="45720" rIns="45720">
            <a:spAutoFit/>
          </a:bodyPr>
          <a:lstStyle/>
          <a:p>
            <a:pPr algn="l">
              <a:spcAft>
                <a:spcPts val="600"/>
              </a:spcAft>
            </a:pPr>
            <a:r>
              <a:rPr sz="1200" b="1">
                <a:solidFill>
                  <a:srgbClr val="B9B4A0"/>
                </a:solidFill>
                <a:latin typeface="Manrope"/>
              </a:rPr>
              <a:t>DOS CAMINOS PARA LOGRAR IDEMPOTENCIA</a:t>
            </a:r>
          </a:p>
        </p:txBody>
      </p:sp>
      <p:sp>
        <p:nvSpPr>
          <p:cNvPr id="11" name="Rounded Rectangle 10"/>
          <p:cNvSpPr/>
          <p:nvPr/>
        </p:nvSpPr>
        <p:spPr>
          <a:xfrm>
            <a:off x="731520" y="3520440"/>
            <a:ext cx="5257800" cy="205740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657600"/>
            <a:ext cx="4892040" cy="411480"/>
          </a:xfrm>
          <a:prstGeom prst="rect">
            <a:avLst/>
          </a:prstGeom>
          <a:noFill/>
        </p:spPr>
        <p:txBody>
          <a:bodyPr wrap="square" anchor="t" lIns="45720" rIns="45720">
            <a:spAutoFit/>
          </a:bodyPr>
          <a:lstStyle/>
          <a:p>
            <a:pPr algn="l">
              <a:spcAft>
                <a:spcPts val="600"/>
              </a:spcAft>
            </a:pPr>
            <a:r>
              <a:rPr sz="1800" b="1">
                <a:solidFill>
                  <a:srgbClr val="7FCF8E"/>
                </a:solidFill>
                <a:latin typeface="Manrope"/>
              </a:rPr>
              <a:t>Deduplicar · con memoria</a:t>
            </a:r>
          </a:p>
        </p:txBody>
      </p:sp>
      <p:sp>
        <p:nvSpPr>
          <p:cNvPr id="13" name="TextBox 12"/>
          <p:cNvSpPr txBox="1"/>
          <p:nvPr/>
        </p:nvSpPr>
        <p:spPr>
          <a:xfrm>
            <a:off x="914400" y="4160520"/>
            <a:ext cx="4892040" cy="1325880"/>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Idempotency key  (FutGo)</a:t>
            </a:r>
          </a:p>
          <a:p>
            <a:pPr algn="l">
              <a:spcAft>
                <a:spcPts val="800"/>
              </a:spcAft>
            </a:pPr>
            <a:r>
              <a:rPr sz="1500" b="0">
                <a:solidFill>
                  <a:srgbClr val="F6EFD9"/>
                </a:solidFill>
                <a:latin typeface="Manrope"/>
              </a:rPr>
              <a:t>•  Consumidor que descarta repetidos  (FutGo)</a:t>
            </a:r>
          </a:p>
          <a:p>
            <a:pPr algn="l">
              <a:spcAft>
                <a:spcPts val="800"/>
              </a:spcAft>
            </a:pPr>
            <a:r>
              <a:rPr sz="1500" b="0">
                <a:solidFill>
                  <a:srgbClr val="F6EFD9"/>
                </a:solidFill>
                <a:latin typeface="Manrope"/>
              </a:rPr>
              <a:t>•  Restricción de unicidad en la base</a:t>
            </a:r>
          </a:p>
        </p:txBody>
      </p:sp>
      <p:sp>
        <p:nvSpPr>
          <p:cNvPr id="14" name="Rounded Rectangle 13"/>
          <p:cNvSpPr/>
          <p:nvPr/>
        </p:nvSpPr>
        <p:spPr>
          <a:xfrm>
            <a:off x="6217920" y="3520440"/>
            <a:ext cx="5257800" cy="205740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657600"/>
            <a:ext cx="4892040" cy="411480"/>
          </a:xfrm>
          <a:prstGeom prst="rect">
            <a:avLst/>
          </a:prstGeom>
          <a:noFill/>
        </p:spPr>
        <p:txBody>
          <a:bodyPr wrap="square" anchor="t" lIns="45720" rIns="45720">
            <a:spAutoFit/>
          </a:bodyPr>
          <a:lstStyle/>
          <a:p>
            <a:pPr algn="l">
              <a:spcAft>
                <a:spcPts val="600"/>
              </a:spcAft>
            </a:pPr>
            <a:r>
              <a:rPr sz="1800" b="1">
                <a:solidFill>
                  <a:srgbClr val="F0C052"/>
                </a:solidFill>
                <a:latin typeface="Manrope"/>
              </a:rPr>
              <a:t>Sin memoria · el estado alcanza</a:t>
            </a:r>
          </a:p>
        </p:txBody>
      </p:sp>
      <p:sp>
        <p:nvSpPr>
          <p:cNvPr id="16" name="TextBox 15"/>
          <p:cNvSpPr txBox="1"/>
          <p:nvPr/>
        </p:nvSpPr>
        <p:spPr>
          <a:xfrm>
            <a:off x="6400800" y="4160520"/>
            <a:ext cx="4892040" cy="1325880"/>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Operación idempotente por diseño</a:t>
            </a:r>
          </a:p>
          <a:p>
            <a:pPr algn="l">
              <a:spcAft>
                <a:spcPts val="800"/>
              </a:spcAft>
            </a:pPr>
            <a:r>
              <a:rPr sz="1500" b="0">
                <a:solidFill>
                  <a:srgbClr val="F6EFD9"/>
                </a:solidFill>
                <a:latin typeface="Manrope"/>
              </a:rPr>
              <a:t>•  Condicionar al estado: versión esperada  (FutGo)</a:t>
            </a:r>
          </a:p>
        </p:txBody>
      </p:sp>
      <p:sp>
        <p:nvSpPr>
          <p:cNvPr id="17" name="Rounded Rectangle 16"/>
          <p:cNvSpPr/>
          <p:nvPr/>
        </p:nvSpPr>
        <p:spPr>
          <a:xfrm>
            <a:off x="731520" y="5760720"/>
            <a:ext cx="10744200" cy="685800"/>
          </a:xfrm>
          <a:prstGeom prst="roundRect">
            <a:avLst>
              <a:gd name="adj" fmla="val 15000"/>
            </a:avLst>
          </a:prstGeom>
          <a:solidFill>
            <a:srgbClr val="2C6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870448"/>
            <a:ext cx="10744200" cy="457200"/>
          </a:xfrm>
          <a:prstGeom prst="rect">
            <a:avLst/>
          </a:prstGeom>
          <a:noFill/>
        </p:spPr>
        <p:txBody>
          <a:bodyPr wrap="square" anchor="t" lIns="45720" rIns="45720">
            <a:spAutoFit/>
          </a:bodyPr>
          <a:lstStyle/>
          <a:p>
            <a:pPr algn="ctr">
              <a:spcAft>
                <a:spcPts val="600"/>
              </a:spcAft>
            </a:pPr>
            <a:r>
              <a:rPr sz="1800" b="1">
                <a:solidFill>
                  <a:srgbClr val="F6EFD9"/>
                </a:solidFill>
                <a:latin typeface="Manrope"/>
              </a:rPr>
              <a:t>Entrega al menos una vez  +  deduplicación  =  efecto una sola vez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nchor="t" lIns="45720" rIns="45720">
            <a:spAutoFit/>
          </a:bodyPr>
          <a:lstStyle/>
          <a:p>
            <a:pPr algn="l">
              <a:spcAft>
                <a:spcPts val="600"/>
              </a:spcAft>
            </a:pPr>
            <a:r>
              <a:rPr sz="1300" b="1">
                <a:solidFill>
                  <a:srgbClr val="F0C052"/>
                </a:solidFill>
                <a:latin typeface="Manrope"/>
              </a:rPr>
              <a:t>TEMA PRINCIPAL · IDEMPOTENCIA</a:t>
            </a:r>
          </a:p>
        </p:txBody>
      </p:sp>
      <p:sp>
        <p:nvSpPr>
          <p:cNvPr id="3" name="TextBox 2"/>
          <p:cNvSpPr txBox="1"/>
          <p:nvPr/>
        </p:nvSpPr>
        <p:spPr>
          <a:xfrm>
            <a:off x="731520" y="777240"/>
            <a:ext cx="10789920" cy="914400"/>
          </a:xfrm>
          <a:prstGeom prst="rect">
            <a:avLst/>
          </a:prstGeom>
          <a:noFill/>
        </p:spPr>
        <p:txBody>
          <a:bodyPr wrap="square" anchor="t" lIns="45720" rIns="45720">
            <a:spAutoFit/>
          </a:bodyPr>
          <a:lstStyle/>
          <a:p>
            <a:pPr algn="l">
              <a:spcAft>
                <a:spcPts val="600"/>
              </a:spcAft>
            </a:pPr>
            <a:r>
              <a:rPr sz="3800" b="0">
                <a:solidFill>
                  <a:srgbClr val="F6EFD9"/>
                </a:solidFill>
                <a:latin typeface="Anton"/>
              </a:rPr>
              <a:t>Concurrencia optimista</a:t>
            </a:r>
          </a:p>
        </p:txBody>
      </p:sp>
      <p:sp>
        <p:nvSpPr>
          <p:cNvPr id="4" name="Rounded Rectangle 3"/>
          <p:cNvSpPr/>
          <p:nvPr/>
        </p:nvSpPr>
        <p:spPr>
          <a:xfrm>
            <a:off x="731520" y="1783080"/>
            <a:ext cx="5257800" cy="301752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4892040" cy="411480"/>
          </a:xfrm>
          <a:prstGeom prst="rect">
            <a:avLst/>
          </a:prstGeom>
          <a:noFill/>
        </p:spPr>
        <p:txBody>
          <a:bodyPr wrap="square" anchor="t" lIns="45720" rIns="45720">
            <a:spAutoFit/>
          </a:bodyPr>
          <a:lstStyle/>
          <a:p>
            <a:pPr algn="l">
              <a:spcAft>
                <a:spcPts val="600"/>
              </a:spcAft>
            </a:pPr>
            <a:r>
              <a:rPr sz="1800" b="1">
                <a:solidFill>
                  <a:srgbClr val="EE8A7D"/>
                </a:solidFill>
                <a:latin typeface="Manrope"/>
              </a:rPr>
              <a:t>Pesimista · bloquear antes</a:t>
            </a:r>
          </a:p>
        </p:txBody>
      </p:sp>
      <p:sp>
        <p:nvSpPr>
          <p:cNvPr id="6" name="TextBox 5"/>
          <p:cNvSpPr txBox="1"/>
          <p:nvPr/>
        </p:nvSpPr>
        <p:spPr>
          <a:xfrm>
            <a:off x="914400" y="2423160"/>
            <a:ext cx="4892040" cy="2286000"/>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Idea: «seguro va a haber choque»</a:t>
            </a:r>
          </a:p>
          <a:p>
            <a:pPr algn="l">
              <a:spcAft>
                <a:spcPts val="800"/>
              </a:spcAft>
            </a:pPr>
            <a:r>
              <a:rPr sz="1500" b="0">
                <a:solidFill>
                  <a:srgbClr val="F6EFD9"/>
                </a:solidFill>
                <a:latin typeface="Manrope"/>
              </a:rPr>
              <a:t>•  Se bloquea el dato y los demás esperan</a:t>
            </a:r>
          </a:p>
          <a:p>
            <a:pPr algn="l">
              <a:spcAft>
                <a:spcPts val="800"/>
              </a:spcAft>
            </a:pPr>
            <a:r>
              <a:rPr sz="1500" b="0">
                <a:solidFill>
                  <a:srgbClr val="F6EFD9"/>
                </a:solidFill>
                <a:latin typeface="Manrope"/>
              </a:rPr>
              <a:t>•  Ej: sacar un archivo de un control de versiones antiguo: nadie más lo edita</a:t>
            </a:r>
          </a:p>
          <a:p>
            <a:pPr algn="l">
              <a:spcAft>
                <a:spcPts val="800"/>
              </a:spcAft>
            </a:pPr>
            <a:r>
              <a:rPr sz="1500" b="0">
                <a:solidFill>
                  <a:srgbClr val="F6EFD9"/>
                </a:solidFill>
                <a:latin typeface="Manrope"/>
              </a:rPr>
              <a:t>•  Conviene cuando los choques son frecuentes</a:t>
            </a:r>
          </a:p>
        </p:txBody>
      </p:sp>
      <p:sp>
        <p:nvSpPr>
          <p:cNvPr id="7" name="Rounded Rectangle 6"/>
          <p:cNvSpPr/>
          <p:nvPr/>
        </p:nvSpPr>
        <p:spPr>
          <a:xfrm>
            <a:off x="6217920" y="1783080"/>
            <a:ext cx="5257800" cy="301752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20240"/>
            <a:ext cx="4892040" cy="411480"/>
          </a:xfrm>
          <a:prstGeom prst="rect">
            <a:avLst/>
          </a:prstGeom>
          <a:noFill/>
        </p:spPr>
        <p:txBody>
          <a:bodyPr wrap="square" anchor="t" lIns="45720" rIns="45720">
            <a:spAutoFit/>
          </a:bodyPr>
          <a:lstStyle/>
          <a:p>
            <a:pPr algn="l">
              <a:spcAft>
                <a:spcPts val="600"/>
              </a:spcAft>
            </a:pPr>
            <a:r>
              <a:rPr sz="1800" b="1">
                <a:solidFill>
                  <a:srgbClr val="7FCF8E"/>
                </a:solidFill>
                <a:latin typeface="Manrope"/>
              </a:rPr>
              <a:t>Optimista · verificar al guardar</a:t>
            </a:r>
          </a:p>
        </p:txBody>
      </p:sp>
      <p:sp>
        <p:nvSpPr>
          <p:cNvPr id="9" name="TextBox 8"/>
          <p:cNvSpPr txBox="1"/>
          <p:nvPr/>
        </p:nvSpPr>
        <p:spPr>
          <a:xfrm>
            <a:off x="6400800" y="2423160"/>
            <a:ext cx="4892040" cy="2286000"/>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Idea: «casi nunca hay choque»</a:t>
            </a:r>
          </a:p>
          <a:p>
            <a:pPr algn="l">
              <a:spcAft>
                <a:spcPts val="800"/>
              </a:spcAft>
            </a:pPr>
            <a:r>
              <a:rPr sz="1500" b="0">
                <a:solidFill>
                  <a:srgbClr val="F6EFD9"/>
                </a:solidFill>
                <a:latin typeface="Manrope"/>
              </a:rPr>
              <a:t>•  Nadie espera; al guardar se verifica la versión</a:t>
            </a:r>
          </a:p>
          <a:p>
            <a:pPr algn="l">
              <a:spcAft>
                <a:spcPts val="800"/>
              </a:spcAft>
            </a:pPr>
            <a:r>
              <a:rPr sz="1500" b="0">
                <a:solidFill>
                  <a:srgbClr val="F6EFD9"/>
                </a:solidFill>
                <a:latin typeface="Manrope"/>
              </a:rPr>
              <a:t>•  Ej: git push, que se rechaza si alguien subió antes</a:t>
            </a:r>
          </a:p>
          <a:p>
            <a:pPr algn="l">
              <a:spcAft>
                <a:spcPts val="800"/>
              </a:spcAft>
            </a:pPr>
            <a:r>
              <a:rPr sz="1500" b="0">
                <a:solidFill>
                  <a:srgbClr val="F6EFD9"/>
                </a:solidFill>
                <a:latin typeface="Manrope"/>
              </a:rPr>
              <a:t>•  Conviene cuando los choques son raros</a:t>
            </a:r>
          </a:p>
        </p:txBody>
      </p:sp>
      <p:sp>
        <p:nvSpPr>
          <p:cNvPr id="10" name="Rounded Rectangle 9"/>
          <p:cNvSpPr/>
          <p:nvPr/>
        </p:nvSpPr>
        <p:spPr>
          <a:xfrm>
            <a:off x="731520" y="4983480"/>
            <a:ext cx="10744200" cy="1463040"/>
          </a:xfrm>
          <a:prstGeom prst="roundRect">
            <a:avLst>
              <a:gd name="adj" fmla="val 8000"/>
            </a:avLst>
          </a:prstGeom>
          <a:solidFill>
            <a:srgbClr val="1F2B25"/>
          </a:solidFill>
          <a:ln w="19050">
            <a:solidFill>
              <a:srgbClr val="2C6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074920"/>
            <a:ext cx="2743200" cy="365760"/>
          </a:xfrm>
          <a:prstGeom prst="rect">
            <a:avLst/>
          </a:prstGeom>
          <a:noFill/>
        </p:spPr>
        <p:txBody>
          <a:bodyPr wrap="square" anchor="t" lIns="45720" rIns="45720">
            <a:spAutoFit/>
          </a:bodyPr>
          <a:lstStyle/>
          <a:p>
            <a:pPr algn="l">
              <a:spcAft>
                <a:spcPts val="600"/>
              </a:spcAft>
            </a:pPr>
            <a:r>
              <a:rPr sz="1200" b="1">
                <a:solidFill>
                  <a:srgbClr val="F0C052"/>
                </a:solidFill>
                <a:latin typeface="Manrope"/>
              </a:rPr>
              <a:t>EN FUTGO</a:t>
            </a:r>
          </a:p>
        </p:txBody>
      </p:sp>
      <p:sp>
        <p:nvSpPr>
          <p:cNvPr id="12" name="TextBox 11"/>
          <p:cNvSpPr txBox="1"/>
          <p:nvPr/>
        </p:nvSpPr>
        <p:spPr>
          <a:xfrm>
            <a:off x="914400" y="5349240"/>
            <a:ext cx="4937760" cy="1097280"/>
          </a:xfrm>
          <a:prstGeom prst="rect">
            <a:avLst/>
          </a:prstGeom>
          <a:noFill/>
        </p:spPr>
        <p:txBody>
          <a:bodyPr wrap="square" anchor="t" lIns="45720" rIns="45720">
            <a:spAutoFit/>
          </a:bodyPr>
          <a:lstStyle/>
          <a:p>
            <a:pPr algn="l">
              <a:spcAft>
                <a:spcPts val="600"/>
              </a:spcAft>
            </a:pPr>
            <a:r>
              <a:rPr sz="1400" b="0">
                <a:solidFill>
                  <a:srgbClr val="F6EFD9"/>
                </a:solidFill>
                <a:latin typeface="Manrope"/>
              </a:rPr>
              <a:t>El comando manda la versión que se vio. Si el partido ya cambió, responde 409 y no guarda nada: no hay nada que deshacer.</a:t>
            </a:r>
          </a:p>
        </p:txBody>
      </p:sp>
      <p:sp>
        <p:nvSpPr>
          <p:cNvPr id="13" name="TextBox 12"/>
          <p:cNvSpPr txBox="1"/>
          <p:nvPr/>
        </p:nvSpPr>
        <p:spPr>
          <a:xfrm>
            <a:off x="6309360" y="5074920"/>
            <a:ext cx="2743200" cy="365760"/>
          </a:xfrm>
          <a:prstGeom prst="rect">
            <a:avLst/>
          </a:prstGeom>
          <a:noFill/>
        </p:spPr>
        <p:txBody>
          <a:bodyPr wrap="square" anchor="t" lIns="45720" rIns="45720">
            <a:spAutoFit/>
          </a:bodyPr>
          <a:lstStyle/>
          <a:p>
            <a:pPr algn="l">
              <a:spcAft>
                <a:spcPts val="600"/>
              </a:spcAft>
            </a:pPr>
            <a:r>
              <a:rPr sz="1200" b="1">
                <a:solidFill>
                  <a:srgbClr val="F0C052"/>
                </a:solidFill>
                <a:latin typeface="Manrope"/>
              </a:rPr>
              <a:t>ACLARACIÓN</a:t>
            </a:r>
          </a:p>
        </p:txBody>
      </p:sp>
      <p:sp>
        <p:nvSpPr>
          <p:cNvPr id="14" name="TextBox 13"/>
          <p:cNvSpPr txBox="1"/>
          <p:nvPr/>
        </p:nvSpPr>
        <p:spPr>
          <a:xfrm>
            <a:off x="6309360" y="5349240"/>
            <a:ext cx="5029200" cy="1097280"/>
          </a:xfrm>
          <a:prstGeom prst="rect">
            <a:avLst/>
          </a:prstGeom>
          <a:noFill/>
        </p:spPr>
        <p:txBody>
          <a:bodyPr wrap="square" anchor="t" lIns="45720" rIns="45720">
            <a:spAutoFit/>
          </a:bodyPr>
          <a:lstStyle/>
          <a:p>
            <a:pPr algn="l">
              <a:spcAft>
                <a:spcPts val="600"/>
              </a:spcAft>
            </a:pPr>
            <a:r>
              <a:rPr sz="1400" b="0">
                <a:solidFill>
                  <a:srgbClr val="F6EFD9"/>
                </a:solidFill>
                <a:latin typeface="Manrope"/>
              </a:rPr>
              <a:t>Frena el mismo daño que la key, pero no recuerda la acción repetida: compara estados. Es concurrencia optimista, no deduplicación.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502920"/>
            <a:ext cx="10515600" cy="365760"/>
          </a:xfrm>
          <a:prstGeom prst="rect">
            <a:avLst/>
          </a:prstGeom>
          <a:noFill/>
        </p:spPr>
        <p:txBody>
          <a:bodyPr wrap="square" anchor="t" lIns="45720" rIns="45720">
            <a:spAutoFit/>
          </a:bodyPr>
          <a:lstStyle/>
          <a:p>
            <a:pPr algn="l">
              <a:spcAft>
                <a:spcPts val="800"/>
              </a:spcAft>
            </a:pPr>
            <a:r>
              <a:rPr sz="1300" b="1">
                <a:solidFill>
                  <a:srgbClr val="F0C052"/>
                </a:solidFill>
                <a:latin typeface="Manrope"/>
              </a:rPr>
              <a:t>CONCURRENCIA OPTIMISTA · EN FUTGO</a:t>
            </a:r>
          </a:p>
        </p:txBody>
      </p:sp>
      <p:sp>
        <p:nvSpPr>
          <p:cNvPr id="3" name="TextBox 2"/>
          <p:cNvSpPr txBox="1"/>
          <p:nvPr/>
        </p:nvSpPr>
        <p:spPr>
          <a:xfrm>
            <a:off x="731520" y="822960"/>
            <a:ext cx="10789920" cy="1005840"/>
          </a:xfrm>
          <a:prstGeom prst="rect">
            <a:avLst/>
          </a:prstGeom>
          <a:noFill/>
        </p:spPr>
        <p:txBody>
          <a:bodyPr wrap="square" anchor="t" lIns="45720" rIns="45720">
            <a:spAutoFit/>
          </a:bodyPr>
          <a:lstStyle/>
          <a:p>
            <a:pPr algn="l">
              <a:spcAft>
                <a:spcPts val="800"/>
              </a:spcAft>
            </a:pPr>
            <a:r>
              <a:rPr sz="4000" b="0">
                <a:solidFill>
                  <a:srgbClr val="F6EFD9"/>
                </a:solidFill>
                <a:latin typeface="Anton"/>
              </a:rPr>
              <a:t>La versión del partido</a:t>
            </a:r>
          </a:p>
        </p:txBody>
      </p:sp>
      <p:sp>
        <p:nvSpPr>
          <p:cNvPr id="4" name="Rounded Rectangle 3"/>
          <p:cNvSpPr/>
          <p:nvPr/>
        </p:nvSpPr>
        <p:spPr>
          <a:xfrm>
            <a:off x="731520" y="2103120"/>
            <a:ext cx="3291840" cy="155448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000" b="1">
                <a:solidFill>
                  <a:srgbClr val="F0C052"/>
                </a:solidFill>
                <a:latin typeface="Manrope"/>
              </a:rPr>
              <a:t>Usuario A</a:t>
            </a:r>
          </a:p>
          <a:p>
            <a:pPr algn="ctr">
              <a:spcBef>
                <a:spcPts val="600"/>
              </a:spcBef>
            </a:pPr>
            <a:r>
              <a:rPr sz="1600">
                <a:solidFill>
                  <a:srgbClr val="F6EFD9"/>
                </a:solidFill>
                <a:latin typeface="Manrope"/>
              </a:rPr>
              <a:t>Ve la v5 y carga un gol</a:t>
            </a:r>
          </a:p>
        </p:txBody>
      </p:sp>
      <p:sp>
        <p:nvSpPr>
          <p:cNvPr id="5" name="TextBox 4"/>
          <p:cNvSpPr txBox="1"/>
          <p:nvPr/>
        </p:nvSpPr>
        <p:spPr>
          <a:xfrm>
            <a:off x="4160520" y="2606040"/>
            <a:ext cx="548640" cy="548640"/>
          </a:xfrm>
          <a:prstGeom prst="rect">
            <a:avLst/>
          </a:prstGeom>
          <a:noFill/>
        </p:spPr>
        <p:txBody>
          <a:bodyPr wrap="square" anchor="t" lIns="45720" rIns="45720">
            <a:spAutoFit/>
          </a:bodyPr>
          <a:lstStyle/>
          <a:p>
            <a:pPr algn="ctr">
              <a:spcAft>
                <a:spcPts val="800"/>
              </a:spcAft>
            </a:pPr>
            <a:r>
              <a:rPr sz="3000" b="1">
                <a:solidFill>
                  <a:srgbClr val="F0C052"/>
                </a:solidFill>
                <a:latin typeface="Manrope"/>
              </a:rPr>
              <a:t>→</a:t>
            </a:r>
          </a:p>
        </p:txBody>
      </p:sp>
      <p:sp>
        <p:nvSpPr>
          <p:cNvPr id="6" name="Rounded Rectangle 5"/>
          <p:cNvSpPr/>
          <p:nvPr/>
        </p:nvSpPr>
        <p:spPr>
          <a:xfrm>
            <a:off x="4846320" y="2103120"/>
            <a:ext cx="2743200" cy="1554480"/>
          </a:xfrm>
          <a:prstGeom prst="roundRect">
            <a:avLst>
              <a:gd name="adj" fmla="val 8000"/>
            </a:avLst>
          </a:prstGeom>
          <a:solidFill>
            <a:srgbClr val="2C6E3A"/>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000" b="1">
                <a:solidFill>
                  <a:srgbClr val="F0C052"/>
                </a:solidFill>
                <a:latin typeface="Manrope"/>
              </a:rPr>
              <a:t>Se guarda</a:t>
            </a:r>
          </a:p>
          <a:p>
            <a:pPr algn="ctr">
              <a:spcBef>
                <a:spcPts val="600"/>
              </a:spcBef>
            </a:pPr>
            <a:r>
              <a:rPr sz="1600">
                <a:solidFill>
                  <a:srgbClr val="F6EFD9"/>
                </a:solidFill>
                <a:latin typeface="Manrope"/>
              </a:rPr>
              <a:t>el partido pasa a la v6</a:t>
            </a:r>
          </a:p>
        </p:txBody>
      </p:sp>
      <p:sp>
        <p:nvSpPr>
          <p:cNvPr id="7" name="Rounded Rectangle 6"/>
          <p:cNvSpPr/>
          <p:nvPr/>
        </p:nvSpPr>
        <p:spPr>
          <a:xfrm>
            <a:off x="731520" y="3931920"/>
            <a:ext cx="3291840" cy="155448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000" b="1">
                <a:solidFill>
                  <a:srgbClr val="F0C052"/>
                </a:solidFill>
                <a:latin typeface="Manrope"/>
              </a:rPr>
              <a:t>Usuario B</a:t>
            </a:r>
          </a:p>
          <a:p>
            <a:pPr algn="ctr">
              <a:spcBef>
                <a:spcPts val="600"/>
              </a:spcBef>
            </a:pPr>
            <a:r>
              <a:rPr sz="1600">
                <a:solidFill>
                  <a:srgbClr val="F6EFD9"/>
                </a:solidFill>
                <a:latin typeface="Manrope"/>
              </a:rPr>
              <a:t>También veía la v5 y carga otro gol</a:t>
            </a:r>
          </a:p>
        </p:txBody>
      </p:sp>
      <p:sp>
        <p:nvSpPr>
          <p:cNvPr id="8" name="TextBox 7"/>
          <p:cNvSpPr txBox="1"/>
          <p:nvPr/>
        </p:nvSpPr>
        <p:spPr>
          <a:xfrm>
            <a:off x="4160520" y="4434840"/>
            <a:ext cx="548640" cy="548640"/>
          </a:xfrm>
          <a:prstGeom prst="rect">
            <a:avLst/>
          </a:prstGeom>
          <a:noFill/>
        </p:spPr>
        <p:txBody>
          <a:bodyPr wrap="square" anchor="t" lIns="45720" rIns="45720">
            <a:spAutoFit/>
          </a:bodyPr>
          <a:lstStyle/>
          <a:p>
            <a:pPr algn="ctr">
              <a:spcAft>
                <a:spcPts val="800"/>
              </a:spcAft>
            </a:pPr>
            <a:r>
              <a:rPr sz="3000" b="1">
                <a:solidFill>
                  <a:srgbClr val="D9483B"/>
                </a:solidFill>
                <a:latin typeface="Manrope"/>
              </a:rPr>
              <a:t>→</a:t>
            </a:r>
          </a:p>
        </p:txBody>
      </p:sp>
      <p:sp>
        <p:nvSpPr>
          <p:cNvPr id="9" name="Rounded Rectangle 8"/>
          <p:cNvSpPr/>
          <p:nvPr/>
        </p:nvSpPr>
        <p:spPr>
          <a:xfrm>
            <a:off x="4846320" y="3931920"/>
            <a:ext cx="2743200" cy="1554480"/>
          </a:xfrm>
          <a:prstGeom prst="roundRect">
            <a:avLst>
              <a:gd name="adj" fmla="val 8000"/>
            </a:avLst>
          </a:prstGeom>
          <a:solidFill>
            <a:srgbClr val="D9483B"/>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000" b="1">
                <a:solidFill>
                  <a:srgbClr val="F6EFD9"/>
                </a:solidFill>
                <a:latin typeface="Manrope"/>
              </a:rPr>
              <a:t>Se rechaza</a:t>
            </a:r>
          </a:p>
          <a:p>
            <a:pPr algn="ctr">
              <a:spcBef>
                <a:spcPts val="600"/>
              </a:spcBef>
            </a:pPr>
            <a:r>
              <a:rPr sz="1600">
                <a:solidFill>
                  <a:srgbClr val="F6EFD9"/>
                </a:solidFill>
                <a:latin typeface="Manrope"/>
              </a:rPr>
              <a:t>ya va por la v6</a:t>
            </a:r>
          </a:p>
        </p:txBody>
      </p:sp>
      <p:sp>
        <p:nvSpPr>
          <p:cNvPr id="10" name="TextBox 9"/>
          <p:cNvSpPr txBox="1"/>
          <p:nvPr/>
        </p:nvSpPr>
        <p:spPr>
          <a:xfrm>
            <a:off x="8138160" y="2103120"/>
            <a:ext cx="3383280" cy="3383280"/>
          </a:xfrm>
          <a:prstGeom prst="rect">
            <a:avLst/>
          </a:prstGeom>
          <a:noFill/>
        </p:spPr>
        <p:txBody>
          <a:bodyPr wrap="square" anchor="t" lIns="45720" rIns="45720">
            <a:spAutoFit/>
          </a:bodyPr>
          <a:lstStyle/>
          <a:p>
            <a:pPr algn="l">
              <a:spcAft>
                <a:spcPts val="800"/>
              </a:spcAft>
            </a:pPr>
            <a:r>
              <a:rPr sz="1900" b="0">
                <a:solidFill>
                  <a:srgbClr val="F6EFD9"/>
                </a:solidFill>
                <a:latin typeface="Manrope"/>
              </a:rPr>
              <a:t>B recibe un aviso, ve el partido actualizado y decide de nuevo.</a:t>
            </a:r>
          </a:p>
          <a:p>
            <a:pPr algn="l">
              <a:spcAft>
                <a:spcPts val="800"/>
              </a:spcAft>
            </a:pPr>
            <a:r>
              <a:rPr sz="1900" b="0">
                <a:solidFill>
                  <a:srgbClr val="F6EFD9"/>
                </a:solidFill>
                <a:latin typeface="Manrope"/>
              </a:rPr>
              <a:t>Nadie se pisa y nadie espera bloqueado.</a:t>
            </a:r>
          </a:p>
        </p:txBody>
      </p:sp>
      <p:sp>
        <p:nvSpPr>
          <p:cNvPr id="11" name="TextBox 10"/>
          <p:cNvSpPr txBox="1"/>
          <p:nvPr/>
        </p:nvSpPr>
        <p:spPr>
          <a:xfrm>
            <a:off x="731520" y="5806440"/>
            <a:ext cx="10789920" cy="548640"/>
          </a:xfrm>
          <a:prstGeom prst="rect">
            <a:avLst/>
          </a:prstGeom>
          <a:noFill/>
        </p:spPr>
        <p:txBody>
          <a:bodyPr wrap="square" anchor="t" lIns="45720" rIns="45720">
            <a:spAutoFit/>
          </a:bodyPr>
          <a:lstStyle/>
          <a:p>
            <a:pPr algn="l">
              <a:spcAft>
                <a:spcPts val="800"/>
              </a:spcAft>
            </a:pPr>
            <a:r>
              <a:rPr sz="1700" b="1">
                <a:solidFill>
                  <a:srgbClr val="B9B4A0"/>
                </a:solidFill>
                <a:latin typeface="Manrope"/>
              </a:rPr>
              <a:t>Key: el mismo intento repetido.   Versión: otra acción sobre un estado viejo.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457200"/>
            <a:ext cx="10515600" cy="365760"/>
          </a:xfrm>
          <a:prstGeom prst="rect">
            <a:avLst/>
          </a:prstGeom>
          <a:noFill/>
        </p:spPr>
        <p:txBody>
          <a:bodyPr wrap="square" anchor="t" lIns="45720" rIns="45720">
            <a:spAutoFit/>
          </a:bodyPr>
          <a:lstStyle/>
          <a:p>
            <a:pPr algn="l">
              <a:spcAft>
                <a:spcPts val="600"/>
              </a:spcAft>
            </a:pPr>
            <a:r>
              <a:rPr sz="1300" b="1">
                <a:solidFill>
                  <a:srgbClr val="F0C052"/>
                </a:solidFill>
                <a:latin typeface="Manrope"/>
              </a:rPr>
              <a:t>LO SUMAMOS NOSOTROS · EVENT SOURCING</a:t>
            </a:r>
          </a:p>
        </p:txBody>
      </p:sp>
      <p:sp>
        <p:nvSpPr>
          <p:cNvPr id="3" name="TextBox 2"/>
          <p:cNvSpPr txBox="1"/>
          <p:nvPr/>
        </p:nvSpPr>
        <p:spPr>
          <a:xfrm>
            <a:off x="731520" y="777240"/>
            <a:ext cx="10789920" cy="914400"/>
          </a:xfrm>
          <a:prstGeom prst="rect">
            <a:avLst/>
          </a:prstGeom>
          <a:noFill/>
        </p:spPr>
        <p:txBody>
          <a:bodyPr wrap="square" anchor="t" lIns="45720" rIns="45720">
            <a:spAutoFit/>
          </a:bodyPr>
          <a:lstStyle/>
          <a:p>
            <a:pPr algn="l">
              <a:spcAft>
                <a:spcPts val="600"/>
              </a:spcAft>
            </a:pPr>
            <a:r>
              <a:rPr sz="3800" b="0">
                <a:solidFill>
                  <a:srgbClr val="F6EFD9"/>
                </a:solidFill>
                <a:latin typeface="Anton"/>
              </a:rPr>
              <a:t>Guardar lo que pasó, no cómo quedó</a:t>
            </a:r>
          </a:p>
        </p:txBody>
      </p:sp>
      <p:sp>
        <p:nvSpPr>
          <p:cNvPr id="4" name="Rounded Rectangle 3"/>
          <p:cNvSpPr/>
          <p:nvPr/>
        </p:nvSpPr>
        <p:spPr>
          <a:xfrm>
            <a:off x="731520" y="1874519"/>
            <a:ext cx="3429000" cy="310896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79"/>
            <a:ext cx="3063240" cy="411480"/>
          </a:xfrm>
          <a:prstGeom prst="rect">
            <a:avLst/>
          </a:prstGeom>
          <a:noFill/>
        </p:spPr>
        <p:txBody>
          <a:bodyPr wrap="square" anchor="t" lIns="45720" rIns="45720">
            <a:spAutoFit/>
          </a:bodyPr>
          <a:lstStyle/>
          <a:p>
            <a:pPr algn="l">
              <a:spcAft>
                <a:spcPts val="600"/>
              </a:spcAft>
            </a:pPr>
            <a:r>
              <a:rPr sz="1800" b="1">
                <a:solidFill>
                  <a:srgbClr val="7FCF8E"/>
                </a:solidFill>
                <a:latin typeface="Manrope"/>
              </a:rPr>
              <a:t>Ventajas</a:t>
            </a:r>
          </a:p>
        </p:txBody>
      </p:sp>
      <p:sp>
        <p:nvSpPr>
          <p:cNvPr id="6" name="TextBox 5"/>
          <p:cNvSpPr txBox="1"/>
          <p:nvPr/>
        </p:nvSpPr>
        <p:spPr>
          <a:xfrm>
            <a:off x="914400" y="2514600"/>
            <a:ext cx="3063240" cy="2377439"/>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Historia completa y auditable</a:t>
            </a:r>
          </a:p>
          <a:p>
            <a:pPr algn="l">
              <a:spcAft>
                <a:spcPts val="800"/>
              </a:spcAft>
            </a:pPr>
            <a:r>
              <a:rPr sz="1500" b="0">
                <a:solidFill>
                  <a:srgbClr val="F6EFD9"/>
                </a:solidFill>
                <a:latin typeface="Manrope"/>
              </a:rPr>
              <a:t>•  Se corrige sin borrar: un gol anulado queda registrado</a:t>
            </a:r>
          </a:p>
          <a:p>
            <a:pPr algn="l">
              <a:spcAft>
                <a:spcPts val="800"/>
              </a:spcAft>
            </a:pPr>
            <a:r>
              <a:rPr sz="1500" b="0">
                <a:solidFill>
                  <a:srgbClr val="F6EFD9"/>
                </a:solidFill>
                <a:latin typeface="Manrope"/>
              </a:rPr>
              <a:t>•  Las vistas se reconstruyen con un replay</a:t>
            </a:r>
          </a:p>
        </p:txBody>
      </p:sp>
      <p:sp>
        <p:nvSpPr>
          <p:cNvPr id="7" name="Rounded Rectangle 6"/>
          <p:cNvSpPr/>
          <p:nvPr/>
        </p:nvSpPr>
        <p:spPr>
          <a:xfrm>
            <a:off x="4389120" y="1874519"/>
            <a:ext cx="3429000" cy="310896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011679"/>
            <a:ext cx="3063240" cy="411480"/>
          </a:xfrm>
          <a:prstGeom prst="rect">
            <a:avLst/>
          </a:prstGeom>
          <a:noFill/>
        </p:spPr>
        <p:txBody>
          <a:bodyPr wrap="square" anchor="t" lIns="45720" rIns="45720">
            <a:spAutoFit/>
          </a:bodyPr>
          <a:lstStyle/>
          <a:p>
            <a:pPr algn="l">
              <a:spcAft>
                <a:spcPts val="600"/>
              </a:spcAft>
            </a:pPr>
            <a:r>
              <a:rPr sz="1800" b="1">
                <a:solidFill>
                  <a:srgbClr val="EE8A7D"/>
                </a:solidFill>
                <a:latin typeface="Manrope"/>
              </a:rPr>
              <a:t>Desventajas</a:t>
            </a:r>
          </a:p>
        </p:txBody>
      </p:sp>
      <p:sp>
        <p:nvSpPr>
          <p:cNvPr id="9" name="TextBox 8"/>
          <p:cNvSpPr txBox="1"/>
          <p:nvPr/>
        </p:nvSpPr>
        <p:spPr>
          <a:xfrm>
            <a:off x="4572000" y="2514600"/>
            <a:ext cx="3063240" cy="2377439"/>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Consultar el estado exige recorrer o proyectar eventos</a:t>
            </a:r>
          </a:p>
          <a:p>
            <a:pPr algn="l">
              <a:spcAft>
                <a:spcPts val="800"/>
              </a:spcAft>
            </a:pPr>
            <a:r>
              <a:rPr sz="1500" b="0">
                <a:solidFill>
                  <a:srgbClr val="F6EFD9"/>
                </a:solidFill>
                <a:latin typeface="Manrope"/>
              </a:rPr>
              <a:t>•  Cambiar la forma de un evento viejo es delicado</a:t>
            </a:r>
          </a:p>
          <a:p>
            <a:pPr algn="l">
              <a:spcAft>
                <a:spcPts val="800"/>
              </a:spcAft>
            </a:pPr>
            <a:r>
              <a:rPr sz="1500" b="0">
                <a:solidFill>
                  <a:srgbClr val="F6EFD9"/>
                </a:solidFill>
                <a:latin typeface="Manrope"/>
              </a:rPr>
              <a:t>•  Curva de aprendizaje</a:t>
            </a:r>
          </a:p>
        </p:txBody>
      </p:sp>
      <p:sp>
        <p:nvSpPr>
          <p:cNvPr id="10" name="Rounded Rectangle 9"/>
          <p:cNvSpPr/>
          <p:nvPr/>
        </p:nvSpPr>
        <p:spPr>
          <a:xfrm>
            <a:off x="8046720" y="1874519"/>
            <a:ext cx="3429000" cy="3108960"/>
          </a:xfrm>
          <a:prstGeom prst="roundRect">
            <a:avLst>
              <a:gd name="adj" fmla="val 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011679"/>
            <a:ext cx="3063240" cy="411480"/>
          </a:xfrm>
          <a:prstGeom prst="rect">
            <a:avLst/>
          </a:prstGeom>
          <a:noFill/>
        </p:spPr>
        <p:txBody>
          <a:bodyPr wrap="square" anchor="t" lIns="45720" rIns="45720">
            <a:spAutoFit/>
          </a:bodyPr>
          <a:lstStyle/>
          <a:p>
            <a:pPr algn="l">
              <a:spcAft>
                <a:spcPts val="600"/>
              </a:spcAft>
            </a:pPr>
            <a:r>
              <a:rPr sz="1800" b="1">
                <a:solidFill>
                  <a:srgbClr val="F0C052"/>
                </a:solidFill>
                <a:latin typeface="Manrope"/>
              </a:rPr>
              <a:t>Cuándo no conviene</a:t>
            </a:r>
          </a:p>
        </p:txBody>
      </p:sp>
      <p:sp>
        <p:nvSpPr>
          <p:cNvPr id="12" name="TextBox 11"/>
          <p:cNvSpPr txBox="1"/>
          <p:nvPr/>
        </p:nvSpPr>
        <p:spPr>
          <a:xfrm>
            <a:off x="8229600" y="2514600"/>
            <a:ext cx="3063240" cy="2377439"/>
          </a:xfrm>
          <a:prstGeom prst="rect">
            <a:avLst/>
          </a:prstGeom>
          <a:noFill/>
        </p:spPr>
        <p:txBody>
          <a:bodyPr wrap="square" anchor="t" lIns="45720" rIns="45720">
            <a:spAutoFit/>
          </a:bodyPr>
          <a:lstStyle/>
          <a:p>
            <a:pPr algn="l">
              <a:spcAft>
                <a:spcPts val="800"/>
              </a:spcAft>
            </a:pPr>
            <a:r>
              <a:rPr sz="1500" b="0">
                <a:solidFill>
                  <a:srgbClr val="F6EFD9"/>
                </a:solidFill>
                <a:latin typeface="Manrope"/>
              </a:rPr>
              <a:t>•  Datos donde la historia no importa: un perfil o una configuración</a:t>
            </a:r>
          </a:p>
          <a:p>
            <a:pPr algn="l">
              <a:spcAft>
                <a:spcPts val="800"/>
              </a:spcAft>
            </a:pPr>
            <a:r>
              <a:rPr sz="1500" b="0">
                <a:solidFill>
                  <a:srgbClr val="F6EFD9"/>
                </a:solidFill>
                <a:latin typeface="Manrope"/>
              </a:rPr>
              <a:t>•  Datos que cambian mucho y nunca se auditan</a:t>
            </a:r>
          </a:p>
        </p:txBody>
      </p:sp>
      <p:sp>
        <p:nvSpPr>
          <p:cNvPr id="13" name="Rounded Rectangle 12"/>
          <p:cNvSpPr/>
          <p:nvPr/>
        </p:nvSpPr>
        <p:spPr>
          <a:xfrm>
            <a:off x="731520" y="5212080"/>
            <a:ext cx="10744200" cy="1234440"/>
          </a:xfrm>
          <a:prstGeom prst="roundRect">
            <a:avLst>
              <a:gd name="adj" fmla="val 8000"/>
            </a:avLst>
          </a:prstGeom>
          <a:solidFill>
            <a:srgbClr val="1F2B25"/>
          </a:solidFill>
          <a:ln w="19050">
            <a:solidFill>
              <a:srgbClr val="2C6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03520"/>
            <a:ext cx="1737360" cy="365760"/>
          </a:xfrm>
          <a:prstGeom prst="rect">
            <a:avLst/>
          </a:prstGeom>
          <a:noFill/>
        </p:spPr>
        <p:txBody>
          <a:bodyPr wrap="square" anchor="t" lIns="45720" rIns="45720">
            <a:spAutoFit/>
          </a:bodyPr>
          <a:lstStyle/>
          <a:p>
            <a:pPr algn="l">
              <a:spcAft>
                <a:spcPts val="600"/>
              </a:spcAft>
            </a:pPr>
            <a:r>
              <a:rPr sz="1200" b="1">
                <a:solidFill>
                  <a:srgbClr val="F0C052"/>
                </a:solidFill>
                <a:latin typeface="Manrope"/>
              </a:rPr>
              <a:t>EN FUTGO</a:t>
            </a:r>
          </a:p>
        </p:txBody>
      </p:sp>
      <p:sp>
        <p:nvSpPr>
          <p:cNvPr id="15" name="TextBox 14"/>
          <p:cNvSpPr txBox="1"/>
          <p:nvPr/>
        </p:nvSpPr>
        <p:spPr>
          <a:xfrm>
            <a:off x="914400" y="5596128"/>
            <a:ext cx="5029200" cy="822960"/>
          </a:xfrm>
          <a:prstGeom prst="rect">
            <a:avLst/>
          </a:prstGeom>
          <a:noFill/>
        </p:spPr>
        <p:txBody>
          <a:bodyPr wrap="square" anchor="t" lIns="45720" rIns="45720">
            <a:spAutoFit/>
          </a:bodyPr>
          <a:lstStyle/>
          <a:p>
            <a:pPr algn="l">
              <a:spcAft>
                <a:spcPts val="600"/>
              </a:spcAft>
            </a:pPr>
            <a:r>
              <a:rPr sz="1500" b="0">
                <a:solidFill>
                  <a:srgbClr val="F6EFD9"/>
                </a:solidFill>
                <a:latin typeface="Manrope"/>
              </a:rPr>
              <a:t>Un partido es una secuencia de hechos: inicio, goles, tarjetas, final.</a:t>
            </a:r>
          </a:p>
        </p:txBody>
      </p:sp>
      <p:sp>
        <p:nvSpPr>
          <p:cNvPr id="16" name="TextBox 15"/>
          <p:cNvSpPr txBox="1"/>
          <p:nvPr/>
        </p:nvSpPr>
        <p:spPr>
          <a:xfrm>
            <a:off x="6309360" y="5303520"/>
            <a:ext cx="1828800" cy="365760"/>
          </a:xfrm>
          <a:prstGeom prst="rect">
            <a:avLst/>
          </a:prstGeom>
          <a:noFill/>
        </p:spPr>
        <p:txBody>
          <a:bodyPr wrap="square" anchor="t" lIns="45720" rIns="45720">
            <a:spAutoFit/>
          </a:bodyPr>
          <a:lstStyle/>
          <a:p>
            <a:pPr algn="l">
              <a:spcAft>
                <a:spcPts val="600"/>
              </a:spcAft>
            </a:pPr>
            <a:r>
              <a:rPr sz="1200" b="1">
                <a:solidFill>
                  <a:srgbClr val="F0C052"/>
                </a:solidFill>
                <a:latin typeface="Manrope"/>
              </a:rPr>
              <a:t>CONTRAEJEMPLO</a:t>
            </a:r>
          </a:p>
        </p:txBody>
      </p:sp>
      <p:sp>
        <p:nvSpPr>
          <p:cNvPr id="17" name="TextBox 16"/>
          <p:cNvSpPr txBox="1"/>
          <p:nvPr/>
        </p:nvSpPr>
        <p:spPr>
          <a:xfrm>
            <a:off x="6309360" y="5596128"/>
            <a:ext cx="5029200" cy="822960"/>
          </a:xfrm>
          <a:prstGeom prst="rect">
            <a:avLst/>
          </a:prstGeom>
          <a:noFill/>
        </p:spPr>
        <p:txBody>
          <a:bodyPr wrap="square" anchor="t" lIns="45720" rIns="45720">
            <a:spAutoFit/>
          </a:bodyPr>
          <a:lstStyle/>
          <a:p>
            <a:pPr algn="l">
              <a:spcAft>
                <a:spcPts val="600"/>
              </a:spcAft>
            </a:pPr>
            <a:r>
              <a:rPr sz="1500" b="0">
                <a:solidFill>
                  <a:srgbClr val="F6EFD9"/>
                </a:solidFill>
                <a:latin typeface="Manrope"/>
              </a:rPr>
              <a:t>Equipos y jugadores: guardamos el estado actual, no sus eventos.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502920"/>
            <a:ext cx="10515600" cy="365760"/>
          </a:xfrm>
          <a:prstGeom prst="rect">
            <a:avLst/>
          </a:prstGeom>
          <a:noFill/>
        </p:spPr>
        <p:txBody>
          <a:bodyPr wrap="square" anchor="t" lIns="45720" rIns="45720">
            <a:spAutoFit/>
          </a:bodyPr>
          <a:lstStyle/>
          <a:p>
            <a:pPr algn="l">
              <a:spcAft>
                <a:spcPts val="800"/>
              </a:spcAft>
            </a:pPr>
            <a:r>
              <a:rPr sz="1300" b="1">
                <a:solidFill>
                  <a:srgbClr val="F0C052"/>
                </a:solidFill>
                <a:latin typeface="Manrope"/>
              </a:rPr>
              <a:t>EVENT SOURCING · EN FUTGO</a:t>
            </a:r>
          </a:p>
        </p:txBody>
      </p:sp>
      <p:sp>
        <p:nvSpPr>
          <p:cNvPr id="3" name="TextBox 2"/>
          <p:cNvSpPr txBox="1"/>
          <p:nvPr/>
        </p:nvSpPr>
        <p:spPr>
          <a:xfrm>
            <a:off x="731520" y="822960"/>
            <a:ext cx="10789920" cy="1005840"/>
          </a:xfrm>
          <a:prstGeom prst="rect">
            <a:avLst/>
          </a:prstGeom>
          <a:noFill/>
        </p:spPr>
        <p:txBody>
          <a:bodyPr wrap="square" anchor="t" lIns="45720" rIns="45720">
            <a:spAutoFit/>
          </a:bodyPr>
          <a:lstStyle/>
          <a:p>
            <a:pPr algn="l">
              <a:spcAft>
                <a:spcPts val="800"/>
              </a:spcAft>
            </a:pPr>
            <a:r>
              <a:rPr sz="4000" b="0">
                <a:solidFill>
                  <a:srgbClr val="F6EFD9"/>
                </a:solidFill>
                <a:latin typeface="Anton"/>
              </a:rPr>
              <a:t>Un partido, evento por evento</a:t>
            </a:r>
          </a:p>
        </p:txBody>
      </p:sp>
      <p:sp>
        <p:nvSpPr>
          <p:cNvPr id="4" name="Rounded Rectangle 3"/>
          <p:cNvSpPr/>
          <p:nvPr/>
        </p:nvSpPr>
        <p:spPr>
          <a:xfrm>
            <a:off x="731520" y="2286000"/>
            <a:ext cx="2011680" cy="137160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400" b="1">
                <a:solidFill>
                  <a:srgbClr val="F0C052"/>
                </a:solidFill>
                <a:latin typeface="Manrope"/>
              </a:rPr>
              <a:t>0'</a:t>
            </a:r>
          </a:p>
          <a:p>
            <a:pPr algn="ctr">
              <a:spcBef>
                <a:spcPts val="600"/>
              </a:spcBef>
            </a:pPr>
            <a:r>
              <a:rPr sz="1500">
                <a:solidFill>
                  <a:srgbClr val="F6EFD9"/>
                </a:solidFill>
                <a:latin typeface="Manrope"/>
              </a:rPr>
              <a:t>Inicio</a:t>
            </a:r>
          </a:p>
        </p:txBody>
      </p:sp>
      <p:sp>
        <p:nvSpPr>
          <p:cNvPr id="5" name="Rounded Rectangle 4"/>
          <p:cNvSpPr/>
          <p:nvPr/>
        </p:nvSpPr>
        <p:spPr>
          <a:xfrm>
            <a:off x="2971800" y="2286000"/>
            <a:ext cx="2011680" cy="137160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400" b="1">
                <a:solidFill>
                  <a:srgbClr val="F0C052"/>
                </a:solidFill>
                <a:latin typeface="Manrope"/>
              </a:rPr>
              <a:t>19'</a:t>
            </a:r>
          </a:p>
          <a:p>
            <a:pPr algn="ctr">
              <a:spcBef>
                <a:spcPts val="600"/>
              </a:spcBef>
            </a:pPr>
            <a:r>
              <a:rPr sz="1500">
                <a:solidFill>
                  <a:srgbClr val="F6EFD9"/>
                </a:solidFill>
                <a:latin typeface="Manrope"/>
              </a:rPr>
              <a:t>Gol de Pérez</a:t>
            </a:r>
          </a:p>
        </p:txBody>
      </p:sp>
      <p:sp>
        <p:nvSpPr>
          <p:cNvPr id="6" name="Rounded Rectangle 5"/>
          <p:cNvSpPr/>
          <p:nvPr/>
        </p:nvSpPr>
        <p:spPr>
          <a:xfrm>
            <a:off x="5212080" y="2286000"/>
            <a:ext cx="2011680" cy="137160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400" b="1">
                <a:solidFill>
                  <a:srgbClr val="F0C052"/>
                </a:solidFill>
                <a:latin typeface="Manrope"/>
              </a:rPr>
              <a:t>23'</a:t>
            </a:r>
          </a:p>
          <a:p>
            <a:pPr algn="ctr">
              <a:spcBef>
                <a:spcPts val="600"/>
              </a:spcBef>
            </a:pPr>
            <a:r>
              <a:rPr sz="1500">
                <a:solidFill>
                  <a:srgbClr val="F6EFD9"/>
                </a:solidFill>
                <a:latin typeface="Manrope"/>
              </a:rPr>
              <a:t>Amarilla a Ruiz</a:t>
            </a:r>
          </a:p>
        </p:txBody>
      </p:sp>
      <p:sp>
        <p:nvSpPr>
          <p:cNvPr id="7" name="Rounded Rectangle 6"/>
          <p:cNvSpPr/>
          <p:nvPr/>
        </p:nvSpPr>
        <p:spPr>
          <a:xfrm>
            <a:off x="7452360" y="2286000"/>
            <a:ext cx="2011680" cy="1371600"/>
          </a:xfrm>
          <a:prstGeom prst="roundRect">
            <a:avLst>
              <a:gd name="adj" fmla="val 8000"/>
            </a:avLst>
          </a:prstGeom>
          <a:solidFill>
            <a:srgbClr val="D9483B"/>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400" b="1">
                <a:solidFill>
                  <a:srgbClr val="F6EFD9"/>
                </a:solidFill>
                <a:latin typeface="Manrope"/>
              </a:rPr>
              <a:t>30'</a:t>
            </a:r>
          </a:p>
          <a:p>
            <a:pPr algn="ctr">
              <a:spcBef>
                <a:spcPts val="600"/>
              </a:spcBef>
            </a:pPr>
            <a:r>
              <a:rPr sz="1500">
                <a:solidFill>
                  <a:srgbClr val="F6EFD9"/>
                </a:solidFill>
                <a:latin typeface="Manrope"/>
              </a:rPr>
              <a:t>Gol anulado</a:t>
            </a:r>
          </a:p>
        </p:txBody>
      </p:sp>
      <p:sp>
        <p:nvSpPr>
          <p:cNvPr id="8" name="Rounded Rectangle 7"/>
          <p:cNvSpPr/>
          <p:nvPr/>
        </p:nvSpPr>
        <p:spPr>
          <a:xfrm>
            <a:off x="9692640" y="2286000"/>
            <a:ext cx="2011680" cy="137160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2400" b="1">
                <a:solidFill>
                  <a:srgbClr val="F0C052"/>
                </a:solidFill>
                <a:latin typeface="Manrope"/>
              </a:rPr>
              <a:t>90'</a:t>
            </a:r>
          </a:p>
          <a:p>
            <a:pPr algn="ctr">
              <a:spcBef>
                <a:spcPts val="600"/>
              </a:spcBef>
            </a:pPr>
            <a:r>
              <a:rPr sz="1500">
                <a:solidFill>
                  <a:srgbClr val="F6EFD9"/>
                </a:solidFill>
                <a:latin typeface="Manrope"/>
              </a:rPr>
              <a:t>Final 1 - 0</a:t>
            </a:r>
          </a:p>
        </p:txBody>
      </p:sp>
      <p:sp>
        <p:nvSpPr>
          <p:cNvPr id="9" name="TextBox 8"/>
          <p:cNvSpPr txBox="1"/>
          <p:nvPr/>
        </p:nvSpPr>
        <p:spPr>
          <a:xfrm>
            <a:off x="731520" y="4206240"/>
            <a:ext cx="10789920" cy="2011680"/>
          </a:xfrm>
          <a:prstGeom prst="rect">
            <a:avLst/>
          </a:prstGeom>
          <a:noFill/>
        </p:spPr>
        <p:txBody>
          <a:bodyPr wrap="square" anchor="t" lIns="45720" rIns="45720">
            <a:spAutoFit/>
          </a:bodyPr>
          <a:lstStyle/>
          <a:p>
            <a:pPr algn="l">
              <a:spcAft>
                <a:spcPts val="800"/>
              </a:spcAft>
            </a:pPr>
            <a:r>
              <a:rPr sz="2200" b="0">
                <a:solidFill>
                  <a:srgbClr val="F6EFD9"/>
                </a:solidFill>
                <a:latin typeface="Manrope"/>
              </a:rPr>
              <a:t>El marcador no se guarda: se calcula a partir de los eventos.</a:t>
            </a:r>
          </a:p>
          <a:p>
            <a:pPr algn="l">
              <a:spcAft>
                <a:spcPts val="800"/>
              </a:spcAft>
            </a:pPr>
            <a:r>
              <a:rPr sz="2200" b="0">
                <a:solidFill>
                  <a:srgbClr val="F6EFD9"/>
                </a:solidFill>
                <a:latin typeface="Manrope"/>
              </a:rPr>
              <a:t>Nada se borra: un error se corrige con otro evento.</a:t>
            </a:r>
          </a:p>
          <a:p>
            <a:pPr algn="l">
              <a:spcAft>
                <a:spcPts val="800"/>
              </a:spcAft>
            </a:pPr>
            <a:r>
              <a:rPr sz="2200" b="0">
                <a:solidFill>
                  <a:srgbClr val="F6EFD9"/>
                </a:solidFill>
                <a:latin typeface="Manrope"/>
              </a:rPr>
              <a:t>Como la historia está completa, cualquier vista se puede reconstruir.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502920"/>
            <a:ext cx="10515600" cy="365760"/>
          </a:xfrm>
          <a:prstGeom prst="rect">
            <a:avLst/>
          </a:prstGeom>
          <a:noFill/>
        </p:spPr>
        <p:txBody>
          <a:bodyPr wrap="square" anchor="t" lIns="45720" rIns="45720">
            <a:spAutoFit/>
          </a:bodyPr>
          <a:lstStyle/>
          <a:p>
            <a:pPr algn="l">
              <a:spcAft>
                <a:spcPts val="800"/>
              </a:spcAft>
            </a:pPr>
            <a:r>
              <a:rPr sz="1300" b="1">
                <a:solidFill>
                  <a:srgbClr val="F0C052"/>
                </a:solidFill>
                <a:latin typeface="Manrope"/>
              </a:rPr>
              <a:t>ESTA ENTREGA</a:t>
            </a:r>
          </a:p>
        </p:txBody>
      </p:sp>
      <p:sp>
        <p:nvSpPr>
          <p:cNvPr id="3" name="TextBox 2"/>
          <p:cNvSpPr txBox="1"/>
          <p:nvPr/>
        </p:nvSpPr>
        <p:spPr>
          <a:xfrm>
            <a:off x="731520" y="822960"/>
            <a:ext cx="10789920" cy="1005840"/>
          </a:xfrm>
          <a:prstGeom prst="rect">
            <a:avLst/>
          </a:prstGeom>
          <a:noFill/>
        </p:spPr>
        <p:txBody>
          <a:bodyPr wrap="square" anchor="t" lIns="45720" rIns="45720">
            <a:spAutoFit/>
          </a:bodyPr>
          <a:lstStyle/>
          <a:p>
            <a:pPr algn="l">
              <a:spcAft>
                <a:spcPts val="800"/>
              </a:spcAft>
            </a:pPr>
            <a:r>
              <a:rPr sz="4000" b="0">
                <a:solidFill>
                  <a:srgbClr val="F6EFD9"/>
                </a:solidFill>
                <a:latin typeface="Anton"/>
              </a:rPr>
              <a:t>Nuevas funcionalidades</a:t>
            </a:r>
          </a:p>
        </p:txBody>
      </p:sp>
      <p:sp>
        <p:nvSpPr>
          <p:cNvPr id="4" name="Rounded Rectangle 3"/>
          <p:cNvSpPr/>
          <p:nvPr/>
        </p:nvSpPr>
        <p:spPr>
          <a:xfrm>
            <a:off x="731520" y="1965960"/>
            <a:ext cx="10744200" cy="731520"/>
          </a:xfrm>
          <a:prstGeom prst="roundRect">
            <a:avLst>
              <a:gd name="adj" fmla="val 1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21408"/>
            <a:ext cx="2743200" cy="457200"/>
          </a:xfrm>
          <a:prstGeom prst="rect">
            <a:avLst/>
          </a:prstGeom>
          <a:noFill/>
        </p:spPr>
        <p:txBody>
          <a:bodyPr wrap="square" anchor="t" lIns="45720" rIns="45720">
            <a:spAutoFit/>
          </a:bodyPr>
          <a:lstStyle/>
          <a:p>
            <a:pPr algn="l">
              <a:spcAft>
                <a:spcPts val="800"/>
              </a:spcAft>
            </a:pPr>
            <a:r>
              <a:rPr sz="2000" b="1">
                <a:solidFill>
                  <a:srgbClr val="F0C052"/>
                </a:solidFill>
                <a:latin typeface="Manrope"/>
              </a:rPr>
              <a:t>Partido en vivo</a:t>
            </a:r>
          </a:p>
        </p:txBody>
      </p:sp>
      <p:sp>
        <p:nvSpPr>
          <p:cNvPr id="6" name="TextBox 5"/>
          <p:cNvSpPr txBox="1"/>
          <p:nvPr/>
        </p:nvSpPr>
        <p:spPr>
          <a:xfrm>
            <a:off x="3749039" y="2148840"/>
            <a:ext cx="5212080" cy="457200"/>
          </a:xfrm>
          <a:prstGeom prst="rect">
            <a:avLst/>
          </a:prstGeom>
          <a:noFill/>
        </p:spPr>
        <p:txBody>
          <a:bodyPr wrap="square" anchor="t" lIns="45720" rIns="45720">
            <a:spAutoFit/>
          </a:bodyPr>
          <a:lstStyle/>
          <a:p>
            <a:pPr algn="l">
              <a:spcAft>
                <a:spcPts val="800"/>
              </a:spcAft>
            </a:pPr>
            <a:r>
              <a:rPr sz="1600" b="0">
                <a:solidFill>
                  <a:srgbClr val="F6EFD9"/>
                </a:solidFill>
                <a:latin typeface="Manrope"/>
              </a:rPr>
              <a:t>Gol a gol, con tarjetas y goles anulados</a:t>
            </a:r>
          </a:p>
        </p:txBody>
      </p:sp>
      <p:sp>
        <p:nvSpPr>
          <p:cNvPr id="7" name="TextBox 6"/>
          <p:cNvSpPr txBox="1"/>
          <p:nvPr/>
        </p:nvSpPr>
        <p:spPr>
          <a:xfrm>
            <a:off x="8961120" y="2148840"/>
            <a:ext cx="2377440" cy="457200"/>
          </a:xfrm>
          <a:prstGeom prst="rect">
            <a:avLst/>
          </a:prstGeom>
          <a:noFill/>
        </p:spPr>
        <p:txBody>
          <a:bodyPr wrap="square" anchor="t" lIns="45720" rIns="45720">
            <a:spAutoFit/>
          </a:bodyPr>
          <a:lstStyle/>
          <a:p>
            <a:pPr algn="r">
              <a:spcAft>
                <a:spcPts val="800"/>
              </a:spcAft>
            </a:pPr>
            <a:r>
              <a:rPr sz="1400" b="1">
                <a:solidFill>
                  <a:srgbClr val="B9B4A0"/>
                </a:solidFill>
                <a:latin typeface="Manrope"/>
              </a:rPr>
              <a:t>Event Sourcing</a:t>
            </a:r>
          </a:p>
        </p:txBody>
      </p:sp>
      <p:sp>
        <p:nvSpPr>
          <p:cNvPr id="8" name="Rounded Rectangle 7"/>
          <p:cNvSpPr/>
          <p:nvPr/>
        </p:nvSpPr>
        <p:spPr>
          <a:xfrm>
            <a:off x="731520" y="2834639"/>
            <a:ext cx="10744200" cy="731520"/>
          </a:xfrm>
          <a:prstGeom prst="roundRect">
            <a:avLst>
              <a:gd name="adj" fmla="val 1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990087"/>
            <a:ext cx="2743200" cy="457200"/>
          </a:xfrm>
          <a:prstGeom prst="rect">
            <a:avLst/>
          </a:prstGeom>
          <a:noFill/>
        </p:spPr>
        <p:txBody>
          <a:bodyPr wrap="square" anchor="t" lIns="45720" rIns="45720">
            <a:spAutoFit/>
          </a:bodyPr>
          <a:lstStyle/>
          <a:p>
            <a:pPr algn="l">
              <a:spcAft>
                <a:spcPts val="800"/>
              </a:spcAft>
            </a:pPr>
            <a:r>
              <a:rPr sz="2000" b="1">
                <a:solidFill>
                  <a:srgbClr val="F0C052"/>
                </a:solidFill>
                <a:latin typeface="Manrope"/>
              </a:rPr>
              <a:t>Reloj del partido</a:t>
            </a:r>
          </a:p>
        </p:txBody>
      </p:sp>
      <p:sp>
        <p:nvSpPr>
          <p:cNvPr id="10" name="TextBox 9"/>
          <p:cNvSpPr txBox="1"/>
          <p:nvPr/>
        </p:nvSpPr>
        <p:spPr>
          <a:xfrm>
            <a:off x="3749039" y="3017520"/>
            <a:ext cx="5212080" cy="457200"/>
          </a:xfrm>
          <a:prstGeom prst="rect">
            <a:avLst/>
          </a:prstGeom>
          <a:noFill/>
        </p:spPr>
        <p:txBody>
          <a:bodyPr wrap="square" anchor="t" lIns="45720" rIns="45720">
            <a:spAutoFit/>
          </a:bodyPr>
          <a:lstStyle/>
          <a:p>
            <a:pPr algn="l">
              <a:spcAft>
                <a:spcPts val="800"/>
              </a:spcAft>
            </a:pPr>
            <a:r>
              <a:rPr sz="1600" b="0">
                <a:solidFill>
                  <a:srgbClr val="F6EFD9"/>
                </a:solidFill>
                <a:latin typeface="Manrope"/>
              </a:rPr>
              <a:t>Se adelanta o corre solo; nunca va para atrás</a:t>
            </a:r>
          </a:p>
        </p:txBody>
      </p:sp>
      <p:sp>
        <p:nvSpPr>
          <p:cNvPr id="11" name="TextBox 10"/>
          <p:cNvSpPr txBox="1"/>
          <p:nvPr/>
        </p:nvSpPr>
        <p:spPr>
          <a:xfrm>
            <a:off x="8961120" y="3017520"/>
            <a:ext cx="2377440" cy="457200"/>
          </a:xfrm>
          <a:prstGeom prst="rect">
            <a:avLst/>
          </a:prstGeom>
          <a:noFill/>
        </p:spPr>
        <p:txBody>
          <a:bodyPr wrap="square" anchor="t" lIns="45720" rIns="45720">
            <a:spAutoFit/>
          </a:bodyPr>
          <a:lstStyle/>
          <a:p>
            <a:pPr algn="r">
              <a:spcAft>
                <a:spcPts val="800"/>
              </a:spcAft>
            </a:pPr>
            <a:r>
              <a:rPr sz="1400" b="1">
                <a:solidFill>
                  <a:srgbClr val="B9B4A0"/>
                </a:solidFill>
                <a:latin typeface="Manrope"/>
              </a:rPr>
              <a:t>Event Sourcing</a:t>
            </a:r>
          </a:p>
        </p:txBody>
      </p:sp>
      <p:sp>
        <p:nvSpPr>
          <p:cNvPr id="12" name="Rounded Rectangle 11"/>
          <p:cNvSpPr/>
          <p:nvPr/>
        </p:nvSpPr>
        <p:spPr>
          <a:xfrm>
            <a:off x="731520" y="3703320"/>
            <a:ext cx="10744200" cy="731520"/>
          </a:xfrm>
          <a:prstGeom prst="roundRect">
            <a:avLst>
              <a:gd name="adj" fmla="val 1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58768"/>
            <a:ext cx="2743200" cy="457200"/>
          </a:xfrm>
          <a:prstGeom prst="rect">
            <a:avLst/>
          </a:prstGeom>
          <a:noFill/>
        </p:spPr>
        <p:txBody>
          <a:bodyPr wrap="square" anchor="t" lIns="45720" rIns="45720">
            <a:spAutoFit/>
          </a:bodyPr>
          <a:lstStyle/>
          <a:p>
            <a:pPr algn="l">
              <a:spcAft>
                <a:spcPts val="800"/>
              </a:spcAft>
            </a:pPr>
            <a:r>
              <a:rPr sz="2000" b="1">
                <a:solidFill>
                  <a:srgbClr val="F0C052"/>
                </a:solidFill>
                <a:latin typeface="Manrope"/>
              </a:rPr>
              <a:t>Tabla de posiciones</a:t>
            </a:r>
          </a:p>
        </p:txBody>
      </p:sp>
      <p:sp>
        <p:nvSpPr>
          <p:cNvPr id="14" name="TextBox 13"/>
          <p:cNvSpPr txBox="1"/>
          <p:nvPr/>
        </p:nvSpPr>
        <p:spPr>
          <a:xfrm>
            <a:off x="3749039" y="3886200"/>
            <a:ext cx="5212080" cy="457200"/>
          </a:xfrm>
          <a:prstGeom prst="rect">
            <a:avLst/>
          </a:prstGeom>
          <a:noFill/>
        </p:spPr>
        <p:txBody>
          <a:bodyPr wrap="square" anchor="t" lIns="45720" rIns="45720">
            <a:spAutoFit/>
          </a:bodyPr>
          <a:lstStyle/>
          <a:p>
            <a:pPr algn="l">
              <a:spcAft>
                <a:spcPts val="800"/>
              </a:spcAft>
            </a:pPr>
            <a:r>
              <a:rPr sz="1600" b="0">
                <a:solidFill>
                  <a:srgbClr val="F6EFD9"/>
                </a:solidFill>
                <a:latin typeface="Manrope"/>
              </a:rPr>
              <a:t>Se arma sola y se puede reconstruir</a:t>
            </a:r>
          </a:p>
        </p:txBody>
      </p:sp>
      <p:sp>
        <p:nvSpPr>
          <p:cNvPr id="15" name="TextBox 14"/>
          <p:cNvSpPr txBox="1"/>
          <p:nvPr/>
        </p:nvSpPr>
        <p:spPr>
          <a:xfrm>
            <a:off x="8961120" y="3886200"/>
            <a:ext cx="2377440" cy="457200"/>
          </a:xfrm>
          <a:prstGeom prst="rect">
            <a:avLst/>
          </a:prstGeom>
          <a:noFill/>
        </p:spPr>
        <p:txBody>
          <a:bodyPr wrap="square" anchor="t" lIns="45720" rIns="45720">
            <a:spAutoFit/>
          </a:bodyPr>
          <a:lstStyle/>
          <a:p>
            <a:pPr algn="r">
              <a:spcAft>
                <a:spcPts val="800"/>
              </a:spcAft>
            </a:pPr>
            <a:r>
              <a:rPr sz="1400" b="1">
                <a:solidFill>
                  <a:srgbClr val="B9B4A0"/>
                </a:solidFill>
                <a:latin typeface="Manrope"/>
              </a:rPr>
              <a:t>CQRS</a:t>
            </a:r>
          </a:p>
        </p:txBody>
      </p:sp>
      <p:sp>
        <p:nvSpPr>
          <p:cNvPr id="16" name="Rounded Rectangle 15"/>
          <p:cNvSpPr/>
          <p:nvPr/>
        </p:nvSpPr>
        <p:spPr>
          <a:xfrm>
            <a:off x="731520" y="4572000"/>
            <a:ext cx="10744200" cy="731520"/>
          </a:xfrm>
          <a:prstGeom prst="roundRect">
            <a:avLst>
              <a:gd name="adj" fmla="val 1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727448"/>
            <a:ext cx="2743200" cy="457200"/>
          </a:xfrm>
          <a:prstGeom prst="rect">
            <a:avLst/>
          </a:prstGeom>
          <a:noFill/>
        </p:spPr>
        <p:txBody>
          <a:bodyPr wrap="square" anchor="t" lIns="45720" rIns="45720">
            <a:spAutoFit/>
          </a:bodyPr>
          <a:lstStyle/>
          <a:p>
            <a:pPr algn="l">
              <a:spcAft>
                <a:spcPts val="800"/>
              </a:spcAft>
            </a:pPr>
            <a:r>
              <a:rPr sz="2000" b="1">
                <a:solidFill>
                  <a:srgbClr val="F0C052"/>
                </a:solidFill>
                <a:latin typeface="Manrope"/>
              </a:rPr>
              <a:t>Sin duplicados</a:t>
            </a:r>
          </a:p>
        </p:txBody>
      </p:sp>
      <p:sp>
        <p:nvSpPr>
          <p:cNvPr id="18" name="TextBox 17"/>
          <p:cNvSpPr txBox="1"/>
          <p:nvPr/>
        </p:nvSpPr>
        <p:spPr>
          <a:xfrm>
            <a:off x="3749039" y="4754880"/>
            <a:ext cx="5212080" cy="457200"/>
          </a:xfrm>
          <a:prstGeom prst="rect">
            <a:avLst/>
          </a:prstGeom>
          <a:noFill/>
        </p:spPr>
        <p:txBody>
          <a:bodyPr wrap="square" anchor="t" lIns="45720" rIns="45720">
            <a:spAutoFit/>
          </a:bodyPr>
          <a:lstStyle/>
          <a:p>
            <a:pPr algn="l">
              <a:spcAft>
                <a:spcPts val="800"/>
              </a:spcAft>
            </a:pPr>
            <a:r>
              <a:rPr sz="1600" b="0">
                <a:solidFill>
                  <a:srgbClr val="F6EFD9"/>
                </a:solidFill>
                <a:latin typeface="Manrope"/>
              </a:rPr>
              <a:t>Un doble click o un reintento cuenta una sola vez</a:t>
            </a:r>
          </a:p>
        </p:txBody>
      </p:sp>
      <p:sp>
        <p:nvSpPr>
          <p:cNvPr id="19" name="TextBox 18"/>
          <p:cNvSpPr txBox="1"/>
          <p:nvPr/>
        </p:nvSpPr>
        <p:spPr>
          <a:xfrm>
            <a:off x="8961120" y="4754880"/>
            <a:ext cx="2377440" cy="457200"/>
          </a:xfrm>
          <a:prstGeom prst="rect">
            <a:avLst/>
          </a:prstGeom>
          <a:noFill/>
        </p:spPr>
        <p:txBody>
          <a:bodyPr wrap="square" anchor="t" lIns="45720" rIns="45720">
            <a:spAutoFit/>
          </a:bodyPr>
          <a:lstStyle/>
          <a:p>
            <a:pPr algn="r">
              <a:spcAft>
                <a:spcPts val="800"/>
              </a:spcAft>
            </a:pPr>
            <a:r>
              <a:rPr sz="1400" b="1">
                <a:solidFill>
                  <a:srgbClr val="B9B4A0"/>
                </a:solidFill>
                <a:latin typeface="Manrope"/>
              </a:rPr>
              <a:t>Idempotencia · key</a:t>
            </a:r>
          </a:p>
        </p:txBody>
      </p:sp>
      <p:sp>
        <p:nvSpPr>
          <p:cNvPr id="20" name="Rounded Rectangle 19"/>
          <p:cNvSpPr/>
          <p:nvPr/>
        </p:nvSpPr>
        <p:spPr>
          <a:xfrm>
            <a:off x="731520" y="5440679"/>
            <a:ext cx="10744200" cy="731520"/>
          </a:xfrm>
          <a:prstGeom prst="roundRect">
            <a:avLst>
              <a:gd name="adj" fmla="val 15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596127"/>
            <a:ext cx="2743200" cy="457200"/>
          </a:xfrm>
          <a:prstGeom prst="rect">
            <a:avLst/>
          </a:prstGeom>
          <a:noFill/>
        </p:spPr>
        <p:txBody>
          <a:bodyPr wrap="square" anchor="t" lIns="45720" rIns="45720">
            <a:spAutoFit/>
          </a:bodyPr>
          <a:lstStyle/>
          <a:p>
            <a:pPr algn="l">
              <a:spcAft>
                <a:spcPts val="800"/>
              </a:spcAft>
            </a:pPr>
            <a:r>
              <a:rPr sz="2000" b="1">
                <a:solidFill>
                  <a:srgbClr val="F0C052"/>
                </a:solidFill>
                <a:latin typeface="Manrope"/>
              </a:rPr>
              <a:t>Sin pisarse</a:t>
            </a:r>
          </a:p>
        </p:txBody>
      </p:sp>
      <p:sp>
        <p:nvSpPr>
          <p:cNvPr id="22" name="TextBox 21"/>
          <p:cNvSpPr txBox="1"/>
          <p:nvPr/>
        </p:nvSpPr>
        <p:spPr>
          <a:xfrm>
            <a:off x="3749039" y="5623559"/>
            <a:ext cx="5212080" cy="457200"/>
          </a:xfrm>
          <a:prstGeom prst="rect">
            <a:avLst/>
          </a:prstGeom>
          <a:noFill/>
        </p:spPr>
        <p:txBody>
          <a:bodyPr wrap="square" anchor="t" lIns="45720" rIns="45720">
            <a:spAutoFit/>
          </a:bodyPr>
          <a:lstStyle/>
          <a:p>
            <a:pPr algn="l">
              <a:spcAft>
                <a:spcPts val="800"/>
              </a:spcAft>
            </a:pPr>
            <a:r>
              <a:rPr sz="1600" b="0">
                <a:solidFill>
                  <a:srgbClr val="F6EFD9"/>
                </a:solidFill>
                <a:latin typeface="Manrope"/>
              </a:rPr>
              <a:t>Si dos cargan a la vez, el segundo recibe un aviso</a:t>
            </a:r>
          </a:p>
        </p:txBody>
      </p:sp>
      <p:sp>
        <p:nvSpPr>
          <p:cNvPr id="23" name="TextBox 22"/>
          <p:cNvSpPr txBox="1"/>
          <p:nvPr/>
        </p:nvSpPr>
        <p:spPr>
          <a:xfrm>
            <a:off x="8961120" y="5623559"/>
            <a:ext cx="2377440" cy="457200"/>
          </a:xfrm>
          <a:prstGeom prst="rect">
            <a:avLst/>
          </a:prstGeom>
          <a:noFill/>
        </p:spPr>
        <p:txBody>
          <a:bodyPr wrap="square" anchor="t" lIns="45720" rIns="45720">
            <a:spAutoFit/>
          </a:bodyPr>
          <a:lstStyle/>
          <a:p>
            <a:pPr algn="r">
              <a:spcAft>
                <a:spcPts val="800"/>
              </a:spcAft>
            </a:pPr>
            <a:r>
              <a:rPr sz="1400" b="1">
                <a:solidFill>
                  <a:srgbClr val="B9B4A0"/>
                </a:solidFill>
                <a:latin typeface="Manrope"/>
              </a:rPr>
              <a:t>Idempotencia · versión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502920"/>
            <a:ext cx="10515600" cy="365760"/>
          </a:xfrm>
          <a:prstGeom prst="rect">
            <a:avLst/>
          </a:prstGeom>
          <a:noFill/>
        </p:spPr>
        <p:txBody>
          <a:bodyPr wrap="square" anchor="t" lIns="45720" rIns="45720">
            <a:spAutoFit/>
          </a:bodyPr>
          <a:lstStyle/>
          <a:p>
            <a:pPr algn="l">
              <a:spcAft>
                <a:spcPts val="800"/>
              </a:spcAft>
            </a:pPr>
            <a:r>
              <a:rPr sz="1300" b="1">
                <a:solidFill>
                  <a:srgbClr val="F0C052"/>
                </a:solidFill>
                <a:latin typeface="Manrope"/>
              </a:rPr>
              <a:t>EN VIVO</a:t>
            </a:r>
          </a:p>
        </p:txBody>
      </p:sp>
      <p:sp>
        <p:nvSpPr>
          <p:cNvPr id="3" name="TextBox 2"/>
          <p:cNvSpPr txBox="1"/>
          <p:nvPr/>
        </p:nvSpPr>
        <p:spPr>
          <a:xfrm>
            <a:off x="731520" y="822960"/>
            <a:ext cx="10789920" cy="1005840"/>
          </a:xfrm>
          <a:prstGeom prst="rect">
            <a:avLst/>
          </a:prstGeom>
          <a:noFill/>
        </p:spPr>
        <p:txBody>
          <a:bodyPr wrap="square" anchor="t" lIns="45720" rIns="45720">
            <a:spAutoFit/>
          </a:bodyPr>
          <a:lstStyle/>
          <a:p>
            <a:pPr algn="l">
              <a:spcAft>
                <a:spcPts val="800"/>
              </a:spcAft>
            </a:pPr>
            <a:r>
              <a:rPr sz="4000" b="0">
                <a:solidFill>
                  <a:srgbClr val="F6EFD9"/>
                </a:solidFill>
                <a:latin typeface="Anton"/>
              </a:rPr>
              <a:t>Demo</a:t>
            </a:r>
          </a:p>
        </p:txBody>
      </p:sp>
      <p:sp>
        <p:nvSpPr>
          <p:cNvPr id="4" name="TextBox 3"/>
          <p:cNvSpPr txBox="1"/>
          <p:nvPr/>
        </p:nvSpPr>
        <p:spPr>
          <a:xfrm>
            <a:off x="731520" y="2103120"/>
            <a:ext cx="10515600" cy="4114800"/>
          </a:xfrm>
          <a:prstGeom prst="rect">
            <a:avLst/>
          </a:prstGeom>
          <a:noFill/>
        </p:spPr>
        <p:txBody>
          <a:bodyPr wrap="square" anchor="t" lIns="45720" rIns="45720">
            <a:spAutoFit/>
          </a:bodyPr>
          <a:lstStyle/>
          <a:p>
            <a:pPr algn="l">
              <a:spcAft>
                <a:spcPts val="800"/>
              </a:spcAft>
            </a:pPr>
            <a:r>
              <a:rPr sz="2800" b="0">
                <a:solidFill>
                  <a:srgbClr val="F6EFD9"/>
                </a:solidFill>
                <a:latin typeface="Manrope"/>
              </a:rPr>
              <a:t>1   Un partido en vivo, gol a gol</a:t>
            </a:r>
          </a:p>
          <a:p>
            <a:pPr algn="l">
              <a:spcAft>
                <a:spcPts val="800"/>
              </a:spcAft>
            </a:pPr>
            <a:r>
              <a:rPr sz="2800" b="0">
                <a:solidFill>
                  <a:srgbClr val="F6EFD9"/>
                </a:solidFill>
                <a:latin typeface="Manrope"/>
              </a:rPr>
              <a:t>2   La tabla se borra y se reconstruye</a:t>
            </a:r>
          </a:p>
          <a:p>
            <a:pPr algn="l">
              <a:spcAft>
                <a:spcPts val="800"/>
              </a:spcAft>
            </a:pPr>
            <a:r>
              <a:rPr sz="2800" b="0">
                <a:solidFill>
                  <a:srgbClr val="F6EFD9"/>
                </a:solidFill>
                <a:latin typeface="Manrope"/>
              </a:rPr>
              <a:t>3   Un reintento que no duplica</a:t>
            </a:r>
          </a:p>
          <a:p>
            <a:pPr algn="l">
              <a:spcAft>
                <a:spcPts val="800"/>
              </a:spcAft>
            </a:pPr>
            <a:r>
              <a:rPr sz="2800" b="0">
                <a:solidFill>
                  <a:srgbClr val="F6EFD9"/>
                </a:solidFill>
                <a:latin typeface="Manrope"/>
              </a:rPr>
              <a:t>4   Dos usuarios a la vez</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C18"/>
        </a:solidFill>
        <a:effectLst/>
      </p:bgPr>
    </p:bg>
    <p:spTree>
      <p:nvGrpSpPr>
        <p:cNvPr id="1" name=""/>
        <p:cNvGrpSpPr/>
        <p:nvPr/>
      </p:nvGrpSpPr>
      <p:grpSpPr/>
      <p:sp>
        <p:nvSpPr>
          <p:cNvPr id="2" name="TextBox 1"/>
          <p:cNvSpPr txBox="1"/>
          <p:nvPr/>
        </p:nvSpPr>
        <p:spPr>
          <a:xfrm>
            <a:off x="731520" y="502920"/>
            <a:ext cx="10515600" cy="365760"/>
          </a:xfrm>
          <a:prstGeom prst="rect">
            <a:avLst/>
          </a:prstGeom>
          <a:noFill/>
        </p:spPr>
        <p:txBody>
          <a:bodyPr wrap="square" anchor="t" lIns="45720" rIns="45720">
            <a:spAutoFit/>
          </a:bodyPr>
          <a:lstStyle/>
          <a:p>
            <a:pPr algn="l">
              <a:spcAft>
                <a:spcPts val="800"/>
              </a:spcAft>
            </a:pPr>
            <a:r>
              <a:rPr sz="1300" b="1">
                <a:solidFill>
                  <a:srgbClr val="F0C052"/>
                </a:solidFill>
                <a:latin typeface="Manrope"/>
              </a:rPr>
              <a:t>CIERRE</a:t>
            </a:r>
          </a:p>
        </p:txBody>
      </p:sp>
      <p:sp>
        <p:nvSpPr>
          <p:cNvPr id="3" name="TextBox 2"/>
          <p:cNvSpPr txBox="1"/>
          <p:nvPr/>
        </p:nvSpPr>
        <p:spPr>
          <a:xfrm>
            <a:off x="731520" y="822960"/>
            <a:ext cx="10789920" cy="1005840"/>
          </a:xfrm>
          <a:prstGeom prst="rect">
            <a:avLst/>
          </a:prstGeom>
          <a:noFill/>
        </p:spPr>
        <p:txBody>
          <a:bodyPr wrap="square" anchor="t" lIns="45720" rIns="45720">
            <a:spAutoFit/>
          </a:bodyPr>
          <a:lstStyle/>
          <a:p>
            <a:pPr algn="l">
              <a:spcAft>
                <a:spcPts val="800"/>
              </a:spcAft>
            </a:pPr>
            <a:r>
              <a:rPr sz="4000" b="0">
                <a:solidFill>
                  <a:srgbClr val="F6EFD9"/>
                </a:solidFill>
                <a:latin typeface="Anton"/>
              </a:rPr>
              <a:t>Qué ganamos y qué cuesta</a:t>
            </a:r>
          </a:p>
        </p:txBody>
      </p:sp>
      <p:sp>
        <p:nvSpPr>
          <p:cNvPr id="4" name="Rounded Rectangle 3"/>
          <p:cNvSpPr/>
          <p:nvPr/>
        </p:nvSpPr>
        <p:spPr>
          <a:xfrm>
            <a:off x="731520" y="2103120"/>
            <a:ext cx="5120640" cy="292608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000" b="1">
                <a:solidFill>
                  <a:srgbClr val="F0C052"/>
                </a:solidFill>
                <a:latin typeface="Manrope"/>
              </a:rPr>
              <a:t>Ganamos</a:t>
            </a:r>
          </a:p>
          <a:p>
            <a:pPr algn="l">
              <a:spcBef>
                <a:spcPts val="600"/>
              </a:spcBef>
            </a:pPr>
            <a:r>
              <a:rPr sz="1600">
                <a:solidFill>
                  <a:srgbClr val="F6EFD9"/>
                </a:solidFill>
                <a:latin typeface="Manrope"/>
              </a:rPr>
              <a:t>Historia completa de cada partido.
Vistas que se reconstruyen.
Reintentos seguros con varias réplicas.</a:t>
            </a:r>
          </a:p>
        </p:txBody>
      </p:sp>
      <p:sp>
        <p:nvSpPr>
          <p:cNvPr id="5" name="Rounded Rectangle 4"/>
          <p:cNvSpPr/>
          <p:nvPr/>
        </p:nvSpPr>
        <p:spPr>
          <a:xfrm>
            <a:off x="6309360" y="2103120"/>
            <a:ext cx="5120640" cy="2926080"/>
          </a:xfrm>
          <a:prstGeom prst="roundRect">
            <a:avLst>
              <a:gd name="adj" fmla="val 8000"/>
            </a:avLst>
          </a:prstGeom>
          <a:solidFill>
            <a:srgbClr val="1F2B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000" b="1">
                <a:solidFill>
                  <a:srgbClr val="D9483B"/>
                </a:solidFill>
                <a:latin typeface="Manrope"/>
              </a:rPr>
              <a:t>Cuesta</a:t>
            </a:r>
          </a:p>
          <a:p>
            <a:pPr algn="l">
              <a:spcBef>
                <a:spcPts val="600"/>
              </a:spcBef>
            </a:pPr>
            <a:r>
              <a:rPr sz="1600">
                <a:solidFill>
                  <a:srgbClr val="F6EFD9"/>
                </a:solidFill>
                <a:latin typeface="Manrope"/>
              </a:rPr>
              <a:t>Más piezas (proyector, colas).
La lectura llega milisegundos tarde.
Redis sigue siendo un único punto de falla.</a:t>
            </a:r>
          </a:p>
        </p:txBody>
      </p:sp>
      <p:sp>
        <p:nvSpPr>
          <p:cNvPr id="6" name="TextBox 5"/>
          <p:cNvSpPr txBox="1"/>
          <p:nvPr/>
        </p:nvSpPr>
        <p:spPr>
          <a:xfrm>
            <a:off x="731520" y="5394960"/>
            <a:ext cx="10789920" cy="914400"/>
          </a:xfrm>
          <a:prstGeom prst="rect">
            <a:avLst/>
          </a:prstGeom>
          <a:noFill/>
        </p:spPr>
        <p:txBody>
          <a:bodyPr wrap="square" anchor="t" lIns="45720" rIns="45720">
            <a:spAutoFit/>
          </a:bodyPr>
          <a:lstStyle/>
          <a:p>
            <a:pPr algn="l">
              <a:spcAft>
                <a:spcPts val="800"/>
              </a:spcAft>
            </a:pPr>
            <a:r>
              <a:rPr sz="1800" b="0">
                <a:solidFill>
                  <a:srgbClr val="B9B4A0"/>
                </a:solidFill>
                <a:latin typeface="Manrope"/>
              </a:rPr>
              <a:t>Para una app de este tamaño un CRUD alcanzaba: lo hicimos para aprender y mostrar los patrones.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